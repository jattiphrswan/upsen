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9" r:id="rId4"/>
    <p:sldId id="258" r:id="rId5"/>
    <p:sldId id="269" r:id="rId6"/>
    <p:sldId id="260" r:id="rId7"/>
    <p:sldId id="270" r:id="rId8"/>
    <p:sldId id="276" r:id="rId9"/>
    <p:sldId id="277" r:id="rId10"/>
    <p:sldId id="278" r:id="rId11"/>
    <p:sldId id="27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176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7A405D-8D15-3B40-3241-9730BF55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E03BE5-B302-B163-35D4-19086A497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837380-83A4-F053-3A99-61877145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79EAD7-F081-DE9B-B13A-638AD983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D24065-EDC1-8EE3-A613-3E64C1C7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647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56A9D4-AF49-89E1-113B-0ED9CA18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3F154F-5D8B-40B8-ACC2-2F663C82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024004-9828-2F5A-5FC5-C4AB98B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88D7EA-416D-4F7B-5D00-42D82869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0D77A5-4E0A-678A-41B4-6F82C33B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04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FFB19B-6C61-154F-80D3-9BB97953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ADA2989-189C-0DAE-B8A3-E7874322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529DBF-4FCA-134C-22EF-E0CC1126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FA1544-EA9A-5046-A9A6-4381CB93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4D17C0-DB3C-8F66-D0FB-435C7BC4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05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89B90B-066C-D996-079A-8D36EFB9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372965-CD2F-1C39-1788-429ED7C86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56A121C-8B53-1475-BA2C-1DA7E0F2B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01FE2EE-45A9-FB01-5B96-445E3FB4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F531009-C76C-F19A-12A1-FB724EAA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43D040B-E47C-ABAB-03A7-42E160D1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60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3046EB-A8CF-CF21-A813-ACFC65C7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5342F7D-9B6D-8B58-A0A7-647E70550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EA406C2-08D7-AFDD-4D5C-18AEE4BB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1A06F9D-9E86-C019-92E4-87A89658C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0B4095D-27F5-A4EE-8EEF-D6F5ACB11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47CB1B8-A5FD-3D49-3734-3407E834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59AD44D-0D29-8153-9D77-58A00B07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BABD84D-0B22-3779-4976-D40DCA99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02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185874-3CC4-18BE-F66E-F83BFDB1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CF4234-1D67-0CB4-EC19-6C1B2B31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59DCF02-49A6-1E49-C73F-979C4D89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651FDE3-2F9F-70E7-FF37-52463235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90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1666BDF-EB3E-5386-D6DF-B876A928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08D79DB-3425-0E93-84C8-3448BF3C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A376FF-213D-58EF-6F8B-20A7DA56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5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C85017-DCA8-21BD-972A-320FEBFF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D9B714-4325-ED4E-F412-9C08CBEC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2890574-F652-C7C2-8F25-9E8EDB6DE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EF92ED-B9BF-FA9C-C0B3-9027C7F0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CC7C458-3BB8-23CB-9B75-3F67DB7A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6081B15-50D9-9CE1-2BA9-903996C4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55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DCB36F-61A9-BA94-921B-248C39DD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06DB968-96D7-9692-FB85-B862C7B2F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54FE81-8FAB-7CC9-E98C-72C8101B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2808ABF-6DCD-F81E-2057-CB0616DF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7859CB-3B03-07CD-0492-6CC9887E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27DC4B5-6AA9-BCA5-C7F4-9CECF6BA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541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2175E8-5821-531C-71B8-FD10186B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95D59CD-4CCF-5226-326D-451EE6F32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6ECDFF-B790-9C61-34EF-B0D23C1E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74B225-47FE-9194-35F1-BEE9CF4A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D5F6C3-AC8F-2343-29CA-CB5C6366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ABA1E9D-7326-6D11-B26D-84FFECD06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6FB6CC3-AF6A-0C9E-8CCB-A55DD4913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E5D442-3FE7-5B92-8F7F-AB7AB6D6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2867F9-0300-877A-E8AE-B4915797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69BCBB-3A9C-B8DA-2593-A1558A62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2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3B49050-BEAA-12F6-33EA-9BE4438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398B9F6-06E5-DE63-EB23-CB1226185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B30915-B44B-70F6-ECE5-129E44782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0557D9-18D3-3784-5196-185AAF24F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076A5FE-8174-49A3-7689-C53E7C7C1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7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upsenoneworld.org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4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508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Freeform 4"/>
          <p:cNvSpPr/>
          <p:nvPr/>
        </p:nvSpPr>
        <p:spPr>
          <a:xfrm rot="2223819">
            <a:off x="7625900" y="-3810555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6"/>
                </a:lnTo>
                <a:lnTo>
                  <a:pt x="0" y="11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9676" y="3410395"/>
            <a:ext cx="713388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Fires, tsunamis, hurricanes, flooding, earth quakes, child trafficking, viruses, pandemics, auto trafficking, abductions and tourists</a:t>
            </a:r>
          </a:p>
        </p:txBody>
      </p:sp>
      <p:sp>
        <p:nvSpPr>
          <p:cNvPr id="6" name="Freeform 6"/>
          <p:cNvSpPr/>
          <p:nvPr/>
        </p:nvSpPr>
        <p:spPr>
          <a:xfrm>
            <a:off x="-1051399" y="-1074793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194833">
            <a:off x="9655273" y="5580699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Oneworld-fina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0" y="381000"/>
            <a:ext cx="4572000" cy="1344706"/>
          </a:xfrm>
          <a:prstGeom prst="rect">
            <a:avLst/>
          </a:prstGeom>
        </p:spPr>
      </p:pic>
      <p:pic>
        <p:nvPicPr>
          <p:cNvPr id="10" name="Picture 9" descr="ONEWORLD-UPSEN-logo.png"/>
          <p:cNvPicPr>
            <a:picLocks noChangeAspect="1"/>
          </p:cNvPicPr>
          <p:nvPr/>
        </p:nvPicPr>
        <p:blipFill>
          <a:blip r:embed="rId7"/>
          <a:srcRect r="69474"/>
          <a:stretch>
            <a:fillRect/>
          </a:stretch>
        </p:blipFill>
        <p:spPr>
          <a:xfrm>
            <a:off x="7631134" y="571905"/>
            <a:ext cx="2997200" cy="3029869"/>
          </a:xfrm>
          <a:prstGeom prst="rect">
            <a:avLst/>
          </a:prstGeom>
        </p:spPr>
      </p:pic>
      <p:sp>
        <p:nvSpPr>
          <p:cNvPr id="11" name="TextBox 13"/>
          <p:cNvSpPr txBox="1"/>
          <p:nvPr/>
        </p:nvSpPr>
        <p:spPr>
          <a:xfrm>
            <a:off x="2329017" y="4705213"/>
            <a:ext cx="3606800" cy="28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  <a:spcBef>
                <a:spcPct val="0"/>
              </a:spcBef>
            </a:pPr>
            <a:r>
              <a:rPr lang="en-US" sz="1942" dirty="0">
                <a:solidFill>
                  <a:srgbClr val="FFFAEB"/>
                </a:solidFill>
                <a:latin typeface="DM Sans Italics"/>
              </a:rPr>
              <a:t>PRESENTED BY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703417" y="5210237"/>
            <a:ext cx="80264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rgbClr val="B100E8"/>
                </a:solidFill>
                <a:latin typeface="Arial" pitchFamily="34" charset="0"/>
                <a:cs typeface="Arial" pitchFamily="34" charset="0"/>
              </a:rPr>
              <a:t>THE CELLULAR EMERGENCY ALERT SERVICES ASSOCIATION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1211417" y="5619614"/>
            <a:ext cx="6400800" cy="5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73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Civil Information Societies EMERGENCY COMMUNICATIONS WORKING GROUP and </a:t>
            </a:r>
            <a:r>
              <a:rPr lang="en-US" sz="1733" dirty="0">
                <a:solidFill>
                  <a:srgbClr val="942DA9"/>
                </a:solidFill>
                <a:latin typeface="Arial" pitchFamily="34" charset="0"/>
                <a:cs typeface="Arial" pitchFamily="34" charset="0"/>
                <a:hlinkClick r:id="rId8"/>
              </a:rPr>
              <a:t>ONEWORLD</a:t>
            </a:r>
            <a:r>
              <a:rPr lang="en-US" sz="1733" dirty="0">
                <a:solidFill>
                  <a:srgbClr val="942DA9"/>
                </a:solidFill>
                <a:latin typeface="Arial" pitchFamily="34" charset="0"/>
                <a:cs typeface="Arial" pitchFamily="34" charset="0"/>
              </a:rPr>
              <a:t> UPSEN ALLIANCE</a:t>
            </a:r>
          </a:p>
        </p:txBody>
      </p:sp>
      <p:sp>
        <p:nvSpPr>
          <p:cNvPr id="14" name="TextBox 8"/>
          <p:cNvSpPr txBox="1"/>
          <p:nvPr/>
        </p:nvSpPr>
        <p:spPr>
          <a:xfrm>
            <a:off x="1149676" y="1800737"/>
            <a:ext cx="67704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dirty="0" smtClean="0">
                <a:solidFill>
                  <a:srgbClr val="048AFF"/>
                </a:solidFill>
                <a:latin typeface="Arial Black" pitchFamily="34" charset="0"/>
              </a:rPr>
              <a:t>DISASTERS KNOW NO BORDERS</a:t>
            </a:r>
            <a:endParaRPr lang="en-US" sz="4800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1447409" y="4207574"/>
            <a:ext cx="56981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dirty="0">
                <a:solidFill>
                  <a:srgbClr val="B100E8"/>
                </a:solidFill>
                <a:latin typeface="Arial Black" pitchFamily="34" charset="0"/>
              </a:rPr>
              <a:t>PROJECT FOR THE CARIBBEAN REGION</a:t>
            </a:r>
          </a:p>
        </p:txBody>
      </p:sp>
      <p:pic>
        <p:nvPicPr>
          <p:cNvPr id="16" name="Picture 15" descr="Oneworld-final-logo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261600" y="5969000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307567" y="2368095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1680029" y="1192140"/>
            <a:ext cx="946694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sz="2400" b="1" dirty="0" smtClean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Billion </a:t>
            </a:r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people do not have access to early warning messages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5684" y="2159169"/>
            <a:ext cx="9271287" cy="283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Technology has been available for more than 20 years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messaging standards and protocols are in place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Early Warnings save lives and property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Governments spend funds to adopt less reliable solutions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Governments subject their systems to data breach and 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misinformation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09541" y="2009037"/>
            <a:ext cx="8194430" cy="3251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3" name="Picture 12" descr="Oneworld-final-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61600" y="5969000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1894" y="320767"/>
            <a:ext cx="403787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CB </a:t>
            </a:r>
            <a:r>
              <a:rPr lang="en-US" sz="3667" dirty="0" smtClean="0">
                <a:solidFill>
                  <a:srgbClr val="048AFF"/>
                </a:solidFill>
                <a:latin typeface="Arial Black" pitchFamily="34" charset="0"/>
              </a:rPr>
              <a:t>Versus </a:t>
            </a: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SMS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1897" y="1028053"/>
            <a:ext cx="6621417" cy="40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Nearly 30 Nations have deployed Gen 1 Cell Broadcast systems</a:t>
            </a:r>
          </a:p>
        </p:txBody>
      </p:sp>
      <p:sp>
        <p:nvSpPr>
          <p:cNvPr id="3" name="Freeform 3"/>
          <p:cNvSpPr/>
          <p:nvPr/>
        </p:nvSpPr>
        <p:spPr>
          <a:xfrm>
            <a:off x="10160000" y="-685800"/>
            <a:ext cx="2868420" cy="2724183"/>
          </a:xfrm>
          <a:custGeom>
            <a:avLst/>
            <a:gdLst/>
            <a:ahLst/>
            <a:cxnLst/>
            <a:rect l="l" t="t" r="r" b="b"/>
            <a:pathLst>
              <a:path w="9641780" h="9629727">
                <a:moveTo>
                  <a:pt x="0" y="0"/>
                </a:moveTo>
                <a:lnTo>
                  <a:pt x="9641780" y="0"/>
                </a:lnTo>
                <a:lnTo>
                  <a:pt x="9641780" y="9629728"/>
                </a:lnTo>
                <a:lnTo>
                  <a:pt x="0" y="962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19" name="TextBox 9"/>
          <p:cNvSpPr txBox="1"/>
          <p:nvPr/>
        </p:nvSpPr>
        <p:spPr>
          <a:xfrm>
            <a:off x="672012" y="1535554"/>
            <a:ext cx="6338388" cy="800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All these deployments purchased CBC systems and have constant on-going maintenance and training costs yearly,</a:t>
            </a:r>
          </a:p>
        </p:txBody>
      </p:sp>
      <p:sp>
        <p:nvSpPr>
          <p:cNvPr id="21" name="TextBox 9"/>
          <p:cNvSpPr txBox="1"/>
          <p:nvPr/>
        </p:nvSpPr>
        <p:spPr>
          <a:xfrm>
            <a:off x="672012" y="2413460"/>
            <a:ext cx="6338388" cy="75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Many have on-going legal battles, defending Government after system failures (most human decision errors), </a:t>
            </a:r>
          </a:p>
        </p:txBody>
      </p:sp>
      <p:sp>
        <p:nvSpPr>
          <p:cNvPr id="22" name="TextBox 9"/>
          <p:cNvSpPr txBox="1"/>
          <p:nvPr/>
        </p:nvSpPr>
        <p:spPr>
          <a:xfrm>
            <a:off x="301894" y="3271941"/>
            <a:ext cx="6386287" cy="12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Numerous Nations have been sold SMS systems disguised as a CB solution because the vendor says it uses CB based CAP messaging.</a:t>
            </a:r>
          </a:p>
        </p:txBody>
      </p:sp>
      <p:sp>
        <p:nvSpPr>
          <p:cNvPr id="23" name="TextBox 9"/>
          <p:cNvSpPr txBox="1"/>
          <p:nvPr/>
        </p:nvSpPr>
        <p:spPr>
          <a:xfrm>
            <a:off x="301894" y="4511501"/>
            <a:ext cx="6386287" cy="1150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Numerous global bodies have specifically stated SMS solutions will not work and are not recommended for Mass Emergency Warning. </a:t>
            </a:r>
          </a:p>
        </p:txBody>
      </p:sp>
      <p:sp>
        <p:nvSpPr>
          <p:cNvPr id="24" name="TextBox 9"/>
          <p:cNvSpPr txBox="1"/>
          <p:nvPr/>
        </p:nvSpPr>
        <p:spPr>
          <a:xfrm>
            <a:off x="584926" y="5768527"/>
            <a:ext cx="6338388" cy="75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Most Nations have representation on these standards bodies for more than 25 years.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894" y="1162594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52544" y="3371876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52544" y="4640633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14" y="0"/>
            <a:ext cx="6858000" cy="6858000"/>
          </a:xfrm>
          <a:prstGeom prst="rect">
            <a:avLst/>
          </a:prstGeom>
        </p:spPr>
      </p:pic>
      <p:sp>
        <p:nvSpPr>
          <p:cNvPr id="17" name="Freeform 7"/>
          <p:cNvSpPr/>
          <p:nvPr/>
        </p:nvSpPr>
        <p:spPr>
          <a:xfrm rot="-8194833">
            <a:off x="11103402" y="5750989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 descr="Oneworld-final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709729" y="6139290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9798" y="-851029"/>
            <a:ext cx="1704187" cy="1702057"/>
          </a:xfrm>
          <a:custGeom>
            <a:avLst/>
            <a:gdLst/>
            <a:ahLst/>
            <a:cxnLst/>
            <a:rect l="l" t="t" r="r" b="b"/>
            <a:pathLst>
              <a:path w="2556280" h="2553085">
                <a:moveTo>
                  <a:pt x="0" y="0"/>
                </a:moveTo>
                <a:lnTo>
                  <a:pt x="2556280" y="0"/>
                </a:lnTo>
                <a:lnTo>
                  <a:pt x="2556280" y="2553084"/>
                </a:lnTo>
                <a:lnTo>
                  <a:pt x="0" y="255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56318" y="5744136"/>
            <a:ext cx="2673507" cy="2670165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70547" y="513105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61977" y="-3321497"/>
            <a:ext cx="5388977" cy="5382241"/>
          </a:xfrm>
          <a:custGeom>
            <a:avLst/>
            <a:gdLst/>
            <a:ahLst/>
            <a:cxnLst/>
            <a:rect l="l" t="t" r="r" b="b"/>
            <a:pathLst>
              <a:path w="8083465" h="8073361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5"/>
          <p:cNvSpPr txBox="1"/>
          <p:nvPr/>
        </p:nvSpPr>
        <p:spPr>
          <a:xfrm>
            <a:off x="1029790" y="86328"/>
            <a:ext cx="6700036" cy="124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200" dirty="0">
                <a:solidFill>
                  <a:srgbClr val="048AFF"/>
                </a:solidFill>
                <a:latin typeface="Arial Black" pitchFamily="34" charset="0"/>
              </a:rPr>
              <a:t>How to tell the difference between CB and SMS</a:t>
            </a:r>
          </a:p>
        </p:txBody>
      </p:sp>
      <p:sp>
        <p:nvSpPr>
          <p:cNvPr id="16" name="TextBox 9"/>
          <p:cNvSpPr txBox="1"/>
          <p:nvPr/>
        </p:nvSpPr>
        <p:spPr>
          <a:xfrm>
            <a:off x="312713" y="1508147"/>
            <a:ext cx="4621347" cy="40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Short Messaging Solutions (SMS) require: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544356" y="1908193"/>
            <a:ext cx="6936481" cy="1801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the constant monitoring of a database of device locations and network and device details.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 connection must be established between sender and  receiver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all traffic to be handled on mobile networks’ communication bandwidth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all message recipients to opt into service.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3347" y="1643462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9"/>
          <p:cNvSpPr txBox="1"/>
          <p:nvPr/>
        </p:nvSpPr>
        <p:spPr>
          <a:xfrm>
            <a:off x="312712" y="4039390"/>
            <a:ext cx="4621347" cy="350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Gen 1 – CB Solutions requires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977" y="4148505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9"/>
          <p:cNvSpPr txBox="1"/>
          <p:nvPr/>
        </p:nvSpPr>
        <p:spPr>
          <a:xfrm>
            <a:off x="543343" y="4409959"/>
            <a:ext cx="677185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Upfront capital for purchase of 1 or more National Cell Broadcast centers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On-going maintenance and training of personnel on system messaging protocols, formatting, authorization authentication and dissemination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DM Sans"/>
              </a:rPr>
              <a:t>No receiver database or opt in required.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0" r="2287" b="6420"/>
          <a:stretch/>
        </p:blipFill>
        <p:spPr>
          <a:xfrm>
            <a:off x="7755227" y="0"/>
            <a:ext cx="4446139" cy="6913354"/>
          </a:xfrm>
          <a:prstGeom prst="rect">
            <a:avLst/>
          </a:prstGeom>
        </p:spPr>
      </p:pic>
      <p:sp>
        <p:nvSpPr>
          <p:cNvPr id="23" name="Freeform 7"/>
          <p:cNvSpPr/>
          <p:nvPr/>
        </p:nvSpPr>
        <p:spPr>
          <a:xfrm rot="-8194833">
            <a:off x="9686932" y="5692772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4" name="Picture 23" descr="Oneworld-final-logo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293259" y="6081073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009495" y="3681555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1208871" y="-1552952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386060" y="679803"/>
            <a:ext cx="11419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Global Bodies have been calling for a Global Messaging platform for ten years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1845" y="1728938"/>
            <a:ext cx="10017025" cy="2971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2015 - More than 200 Nations joined Sendai Framework (link to document)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2022 – UN calls on world to develop and implement a Global Messaging solution by 2025 (link to </a:t>
            </a:r>
            <a:r>
              <a:rPr lang="en-US" sz="1839" dirty="0" err="1">
                <a:solidFill>
                  <a:srgbClr val="FFFAEB"/>
                </a:solidFill>
                <a:latin typeface="DM Sans Italics"/>
              </a:rPr>
              <a:t>Guterres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 Video)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2023 – WMO calls  on Gen 1 developer to implement a Global messaging solution – UPSEN is developed.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2024 - Universal Public Service Emergency Notification (UPSEN) system ready for global deployments. </a:t>
            </a:r>
            <a:endParaRPr lang="en-US" sz="1839" dirty="0" smtClean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6799" y="1422400"/>
            <a:ext cx="10510911" cy="47031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TextBox 8"/>
          <p:cNvSpPr txBox="1"/>
          <p:nvPr/>
        </p:nvSpPr>
        <p:spPr>
          <a:xfrm>
            <a:off x="1867830" y="4855767"/>
            <a:ext cx="10017025" cy="1221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Alerts Corp. begins to approach National Governments and their respective telecommunication regulators with the next generation (GEN 2) of CB based Regional and Global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9644" y="1872970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361882" y="2323757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361882" y="3136448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361882" y="3980462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Oneworld-final-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53077" y="6188768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28" name="TextBox 5"/>
          <p:cNvSpPr txBox="1"/>
          <p:nvPr/>
        </p:nvSpPr>
        <p:spPr>
          <a:xfrm>
            <a:off x="6257093" y="771574"/>
            <a:ext cx="514251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Objective of UPSEN </a:t>
            </a:r>
          </a:p>
        </p:txBody>
      </p:sp>
      <p:sp>
        <p:nvSpPr>
          <p:cNvPr id="41" name="TextBox 8"/>
          <p:cNvSpPr txBox="1"/>
          <p:nvPr/>
        </p:nvSpPr>
        <p:spPr>
          <a:xfrm>
            <a:off x="5274572" y="1412775"/>
            <a:ext cx="6447819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Is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to provide for the safety of all nations and people by resolving the prohibitive cost and operational complexities inherent in all current wireless emergency alerting 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systems.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42" name="TextBox 8"/>
          <p:cNvSpPr txBox="1"/>
          <p:nvPr/>
        </p:nvSpPr>
        <p:spPr>
          <a:xfrm>
            <a:off x="5274572" y="3355042"/>
            <a:ext cx="6654728" cy="2122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While intended as a solution for enabling ‘Gap’, nations to obtain the added safety of national warnings, the UPSEN Personal Alert feature has a regional scope that complements existing programs by delivering seamless cross-border notifications, (i.e. child trafficking).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5931" y="1276298"/>
            <a:ext cx="6460503" cy="4864085"/>
          </a:xfrm>
          <a:prstGeom prst="rect">
            <a:avLst/>
          </a:prstGeom>
        </p:spPr>
      </p:pic>
      <p:pic>
        <p:nvPicPr>
          <p:cNvPr id="7" name="Picture 6" descr="Oneworld-final-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53077" y="6188768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408814" y="3201875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826606" y="526379"/>
            <a:ext cx="271274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What is UPSEN 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77346" y="1101903"/>
            <a:ext cx="6608826" cy="5094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Universal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public service emergency notification is a wireless telecommunications feature, not a government acquisition.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Service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dedicated to providing early warning for all nations as a non-revenue messaging feature available to regulatory governments by land-based and 5-g satellite telecommunications providers as a public service obligation of radio spectrum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…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UPSEN Personal Alert messaging feature supports the establishment of universal multi-hazard early warning as expressed by ‘Target ‘G’ of the UN ‘Sendai Framework for Disaster Risk Reduction’.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8" y="960364"/>
            <a:ext cx="4937271" cy="49372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Oneworld-final-log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118872" y="6125572"/>
            <a:ext cx="1778000" cy="522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925080" y="823978"/>
            <a:ext cx="30500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UPSEN Proposal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08591" y="1524695"/>
            <a:ext cx="5507803" cy="254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UPSEN proposes that ‘Warning for All’ should not be an exclusive responsibility of government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…</a:t>
            </a:r>
            <a:br>
              <a:rPr lang="en-US" sz="1839" dirty="0" smtClean="0">
                <a:solidFill>
                  <a:srgbClr val="FFFAEB"/>
                </a:solidFill>
                <a:latin typeface="DM Sans Italics"/>
              </a:rPr>
            </a:br>
            <a:endParaRPr lang="en-US" sz="1839" dirty="0">
              <a:solidFill>
                <a:srgbClr val="FFFAEB"/>
              </a:solidFill>
              <a:latin typeface="DM Sans Italics"/>
            </a:endParaRP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Providing wireless users access to emergency information should be a moral obligation of personal telecommunication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,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1026" name="Picture 2" descr="File:Earth Western Hemisphere transparent background.png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89" y="0"/>
            <a:ext cx="6672622" cy="667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tellite PNG Transparent Images Free Download - Pngf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933" y="4341761"/>
            <a:ext cx="3970447" cy="297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7"/>
          <p:cNvSpPr/>
          <p:nvPr/>
        </p:nvSpPr>
        <p:spPr>
          <a:xfrm rot="-8194833">
            <a:off x="9626245" y="5812927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 descr="Oneworld-final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232572" y="6201228"/>
            <a:ext cx="1778000" cy="5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874280" y="823978"/>
            <a:ext cx="43200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Role of Wireless Industry 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1059563" y="2331633"/>
            <a:ext cx="5000043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Personal telecom providers have the authority and moral obligation to provide users Universal Public Service Emergency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44" y="1309614"/>
            <a:ext cx="10837309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Given that the need, feasibility, and humanitarian benefit of wireless emergency alerting has been well established.</a:t>
            </a:r>
          </a:p>
        </p:txBody>
      </p:sp>
      <p:pic>
        <p:nvPicPr>
          <p:cNvPr id="16" name="Picture 8" descr="Satellite PNG Transparent Images Free Download - Pngf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650" y="4029790"/>
            <a:ext cx="3270289" cy="245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V Charger | GPS tracking | Telematics Soluti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80" y="4983914"/>
            <a:ext cx="1324472" cy="149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4" r="43457"/>
          <a:stretch/>
        </p:blipFill>
        <p:spPr>
          <a:xfrm flipH="1">
            <a:off x="5153132" y="4062203"/>
            <a:ext cx="1885732" cy="2763383"/>
          </a:xfrm>
          <a:prstGeom prst="rect">
            <a:avLst/>
          </a:prstGeom>
        </p:spPr>
      </p:pic>
      <p:pic>
        <p:nvPicPr>
          <p:cNvPr id="20" name="Picture 12" descr="EV Charger | GPS tracking | Telematics Soluti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11" y="2201278"/>
            <a:ext cx="1165103" cy="131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4" r="43457"/>
          <a:stretch/>
        </p:blipFill>
        <p:spPr>
          <a:xfrm flipH="1">
            <a:off x="10046823" y="1748609"/>
            <a:ext cx="1262591" cy="1850222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2443680" y="5545464"/>
            <a:ext cx="2464523" cy="187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>
            <a:off x="6302989" y="5475511"/>
            <a:ext cx="2278925" cy="257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 rot="16378043">
            <a:off x="10038285" y="3800910"/>
            <a:ext cx="777944" cy="225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 rot="10624011">
            <a:off x="8311533" y="2808094"/>
            <a:ext cx="1623329" cy="234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 7"/>
          <p:cNvSpPr/>
          <p:nvPr/>
        </p:nvSpPr>
        <p:spPr>
          <a:xfrm rot="-8194833">
            <a:off x="9547558" y="5845116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7">
              <a:alphaModFix amt="67000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22" name="Picture 21" descr="Oneworld-final-logo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153885" y="6233417"/>
            <a:ext cx="1778000" cy="5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916814" y="3724817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785380" y="746088"/>
            <a:ext cx="35707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UPSEN Deliverables 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77345" y="1251365"/>
            <a:ext cx="10837309" cy="2919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A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‘no-cost’ emergency warning capability,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Automated wireless emergency alerting,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Self-funding revenue sustainability,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Internationally harmonized alerting,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Borderless event notifications,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Default, not opt-in, connectivity to all wireless handset devices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Enhanced safety and security for all people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4530" y="1683333"/>
            <a:ext cx="5847470" cy="4573776"/>
          </a:xfrm>
          <a:prstGeom prst="rect">
            <a:avLst/>
          </a:prstGeom>
        </p:spPr>
      </p:pic>
      <p:sp>
        <p:nvSpPr>
          <p:cNvPr id="15" name="Freeform 7"/>
          <p:cNvSpPr/>
          <p:nvPr/>
        </p:nvSpPr>
        <p:spPr>
          <a:xfrm rot="-8194833">
            <a:off x="9524645" y="5754870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 descr="Oneworld-final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130972" y="6143171"/>
            <a:ext cx="1778000" cy="5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621133" y="3970188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785380" y="746088"/>
            <a:ext cx="35707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Messaging Practices 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3845" y="1254865"/>
            <a:ext cx="6345755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UPSEN messaging is held to three recognized principals: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844" y="1757295"/>
            <a:ext cx="3856555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1.    Common Alerting Protocol 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1078786" y="2175520"/>
            <a:ext cx="10148014" cy="127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(CAP) is a highly advanced and secure multimedia data dissemination format. CAP universally authenticates the non-repudiation of alert originators and verifies the alerting actions comply with territorial authorization,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844" y="3520905"/>
            <a:ext cx="4783656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 smtClean="0">
                <a:solidFill>
                  <a:srgbClr val="FFFAEB"/>
                </a:solidFill>
                <a:latin typeface="DM Sans Italics"/>
              </a:rPr>
              <a:t>2</a:t>
            </a: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. National  Sovereignty and Jurisdiction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1078786" y="3939130"/>
            <a:ext cx="10148014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right to mandate action by a nation’s population is exclusively that of government and cannot be superseded by ‘outside’ organizations regardless of how altruistic the purpose,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284" y="4920875"/>
            <a:ext cx="4783656" cy="4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 smtClean="0">
                <a:solidFill>
                  <a:srgbClr val="FFFAEB"/>
                </a:solidFill>
                <a:latin typeface="DM Sans Italics"/>
              </a:rPr>
              <a:t>3</a:t>
            </a: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. National  Regulatory Framework 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1078786" y="5349169"/>
            <a:ext cx="10148014" cy="79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All nation states have regulatory bodies responsible for the orderly administration and licensed use of radio spectrum according to international agreements. </a:t>
            </a:r>
          </a:p>
        </p:txBody>
      </p:sp>
      <p:sp>
        <p:nvSpPr>
          <p:cNvPr id="19" name="Freeform 7"/>
          <p:cNvSpPr/>
          <p:nvPr/>
        </p:nvSpPr>
        <p:spPr>
          <a:xfrm rot="-8194833">
            <a:off x="9553275" y="5846324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 descr="Oneworld-final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159602" y="6234625"/>
            <a:ext cx="1778000" cy="5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0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6001244">
            <a:off x="7278471" y="4699809"/>
            <a:ext cx="9522575" cy="8641737"/>
          </a:xfrm>
          <a:custGeom>
            <a:avLst/>
            <a:gdLst/>
            <a:ahLst/>
            <a:cxnLst/>
            <a:rect l="l" t="t" r="r" b="b"/>
            <a:pathLst>
              <a:path w="14283863" h="12962606">
                <a:moveTo>
                  <a:pt x="0" y="0"/>
                </a:moveTo>
                <a:lnTo>
                  <a:pt x="14283863" y="0"/>
                </a:lnTo>
                <a:lnTo>
                  <a:pt x="14283863" y="12962606"/>
                </a:lnTo>
                <a:lnTo>
                  <a:pt x="0" y="1296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4654">
            <a:off x="-4419282" y="-5522053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7"/>
                </a:lnTo>
                <a:lnTo>
                  <a:pt x="0" y="1143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09215" y="3340332"/>
            <a:ext cx="4291685" cy="671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1950" dirty="0">
                <a:solidFill>
                  <a:srgbClr val="B100E8"/>
                </a:solidFill>
                <a:latin typeface="Now Bold"/>
              </a:rPr>
              <a:t>For more information or to join UPSEN, please go to</a:t>
            </a:r>
          </a:p>
        </p:txBody>
      </p:sp>
      <p:sp>
        <p:nvSpPr>
          <p:cNvPr id="6" name="Freeform 6"/>
          <p:cNvSpPr/>
          <p:nvPr/>
        </p:nvSpPr>
        <p:spPr>
          <a:xfrm>
            <a:off x="9696987" y="-462514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16629" y="2189848"/>
            <a:ext cx="7580358" cy="90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5"/>
              </a:lnSpc>
            </a:pPr>
            <a:r>
              <a:rPr lang="en-US" sz="5392" dirty="0">
                <a:solidFill>
                  <a:srgbClr val="048AFF"/>
                </a:solidFill>
                <a:latin typeface="Now 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43371" y="4260220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43371" y="4741846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53796" y="4328097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nations@upsenoneworld.org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3796" y="4810581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www.upsenoneworld.org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806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DM Sans</vt:lpstr>
      <vt:lpstr>DM Sans Italics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Pacholik</dc:creator>
  <cp:lastModifiedBy>Microsoft account</cp:lastModifiedBy>
  <cp:revision>17</cp:revision>
  <dcterms:created xsi:type="dcterms:W3CDTF">2025-02-22T21:19:17Z</dcterms:created>
  <dcterms:modified xsi:type="dcterms:W3CDTF">2025-03-27T13:04:15Z</dcterms:modified>
</cp:coreProperties>
</file>