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68" r:id="rId3"/>
    <p:sldId id="259" r:id="rId4"/>
    <p:sldId id="258" r:id="rId5"/>
    <p:sldId id="260" r:id="rId6"/>
    <p:sldId id="270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6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82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47A405D-8D15-3B40-3241-9730BF55F3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39E03BE5-B302-B163-35D4-19086A4973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D837380-83A4-F053-3A99-61877145A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427E6-2214-4043-AB26-0B6DEFF282CA}" type="datetimeFigureOut">
              <a:rPr lang="en-CA" smtClean="0"/>
              <a:t>2025-03-27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179EAD7-F081-DE9B-B13A-638AD9839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2D24065-EDC1-8EE3-A613-3E64C1C74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690F-FD1B-4D93-B716-234C5CEDBB1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76479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D56A9D4-AF49-89E1-113B-0ED9CA18B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93F154F-5D8B-40B8-ACC2-2F663C828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8024004-9828-2F5A-5FC5-C4AB98B0F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427E6-2214-4043-AB26-0B6DEFF282CA}" type="datetimeFigureOut">
              <a:rPr lang="en-CA" smtClean="0"/>
              <a:t>2025-03-27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288D7EA-416D-4F7B-5D00-42D82869F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40D77A5-4E0A-678A-41B4-6F82C33B1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690F-FD1B-4D93-B716-234C5CEDBB1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59041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CFFB19B-6C61-154F-80D3-9BB979538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8ADA2989-189C-0DAE-B8A3-E787432291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1529DBF-4FCA-134C-22EF-E0CC1126B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427E6-2214-4043-AB26-0B6DEFF282CA}" type="datetimeFigureOut">
              <a:rPr lang="en-CA" smtClean="0"/>
              <a:t>2025-03-27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2FA1544-EA9A-5046-A9A6-4381CB938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64D17C0-DB3C-8F66-D0FB-435C7BC48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690F-FD1B-4D93-B716-234C5CEDBB1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4053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889B90B-066C-D996-079A-8D36EFB91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4372965-CD2F-1C39-1788-429ED7C868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656A121C-8B53-1475-BA2C-1DA7E0F2BC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501FE2EE-45A9-FB01-5B96-445E3FB42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427E6-2214-4043-AB26-0B6DEFF282CA}" type="datetimeFigureOut">
              <a:rPr lang="en-CA" smtClean="0"/>
              <a:t>2025-03-27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EF531009-C76C-F19A-12A1-FB724EAAC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E43D040B-E47C-ABAB-03A7-42E160D12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690F-FD1B-4D93-B716-234C5CEDBB1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51602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53046EB-A8CF-CF21-A813-ACFC65C7D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E5342F7D-9B6D-8B58-A0A7-647E705504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FEA406C2-08D7-AFDD-4D5C-18AEE4BBAA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A1A06F9D-9E86-C019-92E4-87A89658C0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F0B4095D-27F5-A4EE-8EEF-D6F5ACB118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F47CB1B8-A5FD-3D49-3734-3407E834A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427E6-2214-4043-AB26-0B6DEFF282CA}" type="datetimeFigureOut">
              <a:rPr lang="en-CA" smtClean="0"/>
              <a:t>2025-03-27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959AD44D-0D29-8153-9D77-58A00B072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ABABD84D-0B22-3779-4976-D40DCA993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690F-FD1B-4D93-B716-234C5CEDBB1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67020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8185874-3CC4-18BE-F66E-F83BFDB13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7DCF4234-1D67-0CB4-EC19-6C1B2B31C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427E6-2214-4043-AB26-0B6DEFF282CA}" type="datetimeFigureOut">
              <a:rPr lang="en-CA" smtClean="0"/>
              <a:t>2025-03-27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559DCF02-49A6-1E49-C73F-979C4D897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3651FDE3-2F9F-70E7-FF37-524632352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690F-FD1B-4D93-B716-234C5CEDBB1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96902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11666BDF-EB3E-5386-D6DF-B876A9283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427E6-2214-4043-AB26-0B6DEFF282CA}" type="datetimeFigureOut">
              <a:rPr lang="en-CA" smtClean="0"/>
              <a:t>2025-03-27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D08D79DB-3425-0E93-84C8-3448BF3C0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97A376FF-213D-58EF-6F8B-20A7DA561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690F-FD1B-4D93-B716-234C5CEDBB1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84588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BC85017-DCA8-21BD-972A-320FEBFFB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6D9B714-4325-ED4E-F412-9C08CBECF9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E2890574-F652-C7C2-8F25-9E8EDB6DE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32EF92ED-B9BF-FA9C-C0B3-9027C7F04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427E6-2214-4043-AB26-0B6DEFF282CA}" type="datetimeFigureOut">
              <a:rPr lang="en-CA" smtClean="0"/>
              <a:t>2025-03-27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ACC7C458-3BB8-23CB-9B75-3F67DB7AF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D6081B15-50D9-9CE1-2BA9-903996C4B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690F-FD1B-4D93-B716-234C5CEDBB1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96551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6DCB36F-61A9-BA94-921B-248C39DD6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506DB968-96D7-9692-FB85-B862C7B2FB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7454FE81-8FAB-7CC9-E98C-72C8101B30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52808ABF-6DCD-F81E-2057-CB0616DF0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427E6-2214-4043-AB26-0B6DEFF282CA}" type="datetimeFigureOut">
              <a:rPr lang="en-CA" smtClean="0"/>
              <a:t>2025-03-27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D47859CB-3B03-07CD-0492-6CC9887EE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E27DC4B5-6AA9-BCA5-C7F4-9CECF6BAF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690F-FD1B-4D93-B716-234C5CEDBB1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55415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12175E8-5821-531C-71B8-FD10186B6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B95D59CD-4CCF-5226-326D-451EE6F320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F6ECDFF-B790-9C61-34EF-B0D23C1E8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427E6-2214-4043-AB26-0B6DEFF282CA}" type="datetimeFigureOut">
              <a:rPr lang="en-CA" smtClean="0"/>
              <a:t>2025-03-27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B74B225-47FE-9194-35F1-BEE9CF4A5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3D5F6C3-AC8F-2343-29CA-CB5C63664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690F-FD1B-4D93-B716-234C5CEDBB1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2297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1ABA1E9D-7326-6D11-B26D-84FFECD06A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66FB6CC3-AF6A-0C9E-8CCB-A55DD49138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AE5D442-3FE7-5B92-8F7F-AB7AB6D62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427E6-2214-4043-AB26-0B6DEFF282CA}" type="datetimeFigureOut">
              <a:rPr lang="en-CA" smtClean="0"/>
              <a:t>2025-03-27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62867F9-0300-877A-E8AE-B4915797B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D69BCBB-3A9C-B8DA-2593-A1558A62C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690F-FD1B-4D93-B716-234C5CEDBB1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29623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B3B49050-BEAA-12F6-33EA-9BE443833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C398B9F6-06E5-DE63-EB23-CB12261852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EB30915-B44B-70F6-ECE5-129E447828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427E6-2214-4043-AB26-0B6DEFF282CA}" type="datetimeFigureOut">
              <a:rPr lang="en-CA" smtClean="0"/>
              <a:t>2025-03-27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B0557D9-18D3-3784-5196-185AAF24F4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076A5FE-8174-49A3-7689-C53E7C7C1C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6690F-FD1B-4D93-B716-234C5CEDBB1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54756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png"/><Relationship Id="rId7" Type="http://schemas.openxmlformats.org/officeDocument/2006/relationships/image" Target="../media/image4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6.png"/><Relationship Id="rId5" Type="http://schemas.openxmlformats.org/officeDocument/2006/relationships/image" Target="../media/image4.svg"/><Relationship Id="rId10" Type="http://schemas.openxmlformats.org/officeDocument/2006/relationships/hyperlink" Target="https://upsenoneworld.org/" TargetMode="External"/><Relationship Id="rId9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3.png"/><Relationship Id="rId7" Type="http://schemas.openxmlformats.org/officeDocument/2006/relationships/image" Target="../media/image4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4.svg"/><Relationship Id="rId4" Type="http://schemas.openxmlformats.org/officeDocument/2006/relationships/image" Target="../media/image2.png"/><Relationship Id="rId9" Type="http://schemas.openxmlformats.org/officeDocument/2006/relationships/image" Target="../media/image4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5080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685800" y="-956933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7000"/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8194833">
            <a:off x="9655273" y="5580699"/>
            <a:ext cx="3347048" cy="3346711"/>
          </a:xfrm>
          <a:custGeom>
            <a:avLst/>
            <a:gdLst>
              <a:gd name="connsiteX0" fmla="*/ 505 w 5020572"/>
              <a:gd name="connsiteY0" fmla="*/ 0 h 5020066"/>
              <a:gd name="connsiteX1" fmla="*/ 5020572 w 5020572"/>
              <a:gd name="connsiteY1" fmla="*/ 0 h 5020066"/>
              <a:gd name="connsiteX2" fmla="*/ 5020572 w 5020572"/>
              <a:gd name="connsiteY2" fmla="*/ 5020066 h 5020066"/>
              <a:gd name="connsiteX3" fmla="*/ 505 w 5020572"/>
              <a:gd name="connsiteY3" fmla="*/ 5020066 h 5020066"/>
              <a:gd name="connsiteX4" fmla="*/ 505 w 5020572"/>
              <a:gd name="connsiteY4" fmla="*/ 0 h 5020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20572" h="5020066">
                <a:moveTo>
                  <a:pt x="505" y="0"/>
                </a:moveTo>
                <a:lnTo>
                  <a:pt x="5020572" y="0"/>
                </a:lnTo>
                <a:lnTo>
                  <a:pt x="5020572" y="5020066"/>
                </a:lnTo>
                <a:lnTo>
                  <a:pt x="505" y="5020066"/>
                </a:lnTo>
                <a:cubicBezTo>
                  <a:pt x="505" y="3346711"/>
                  <a:pt x="0" y="1831197"/>
                  <a:pt x="505" y="0"/>
                </a:cubicBezTo>
                <a:close/>
              </a:path>
            </a:pathLst>
          </a:custGeom>
          <a:blipFill>
            <a:blip r:embed="rId3">
              <a:alphaModFix amt="67000"/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2"/>
          <p:cNvSpPr/>
          <p:nvPr/>
        </p:nvSpPr>
        <p:spPr>
          <a:xfrm flipH="1" flipV="1">
            <a:off x="-5080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10" name="Freeform 4"/>
          <p:cNvSpPr/>
          <p:nvPr/>
        </p:nvSpPr>
        <p:spPr>
          <a:xfrm rot="2223819">
            <a:off x="7933153" y="-3708955"/>
            <a:ext cx="8397918" cy="7621111"/>
          </a:xfrm>
          <a:custGeom>
            <a:avLst/>
            <a:gdLst/>
            <a:ahLst/>
            <a:cxnLst/>
            <a:rect l="l" t="t" r="r" b="b"/>
            <a:pathLst>
              <a:path w="12596877" h="11431666">
                <a:moveTo>
                  <a:pt x="0" y="0"/>
                </a:moveTo>
                <a:lnTo>
                  <a:pt x="12596877" y="0"/>
                </a:lnTo>
                <a:lnTo>
                  <a:pt x="12596877" y="11431666"/>
                </a:lnTo>
                <a:lnTo>
                  <a:pt x="0" y="114316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TextBox 5"/>
          <p:cNvSpPr txBox="1"/>
          <p:nvPr/>
        </p:nvSpPr>
        <p:spPr>
          <a:xfrm>
            <a:off x="1081641" y="2654778"/>
            <a:ext cx="7133883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The cell-grid structure of personal telecommunications that permits emergency authorities to selectively alert ‘at-risk’ population groups, using telecom devices that are owned and routinely carried by over seventy percent of Earth’s inhabitants, is Personal Alerting…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2" name="Freeform 6"/>
          <p:cNvSpPr/>
          <p:nvPr/>
        </p:nvSpPr>
        <p:spPr>
          <a:xfrm>
            <a:off x="-1051399" y="-1074793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7000"/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7"/>
          <p:cNvSpPr/>
          <p:nvPr/>
        </p:nvSpPr>
        <p:spPr>
          <a:xfrm rot="-8194833">
            <a:off x="9655273" y="5580699"/>
            <a:ext cx="3347048" cy="3346711"/>
          </a:xfrm>
          <a:custGeom>
            <a:avLst/>
            <a:gdLst>
              <a:gd name="connsiteX0" fmla="*/ 505 w 5020572"/>
              <a:gd name="connsiteY0" fmla="*/ 0 h 5020066"/>
              <a:gd name="connsiteX1" fmla="*/ 5020572 w 5020572"/>
              <a:gd name="connsiteY1" fmla="*/ 0 h 5020066"/>
              <a:gd name="connsiteX2" fmla="*/ 5020572 w 5020572"/>
              <a:gd name="connsiteY2" fmla="*/ 5020066 h 5020066"/>
              <a:gd name="connsiteX3" fmla="*/ 505 w 5020572"/>
              <a:gd name="connsiteY3" fmla="*/ 5020066 h 5020066"/>
              <a:gd name="connsiteX4" fmla="*/ 505 w 5020572"/>
              <a:gd name="connsiteY4" fmla="*/ 0 h 5020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20572" h="5020066">
                <a:moveTo>
                  <a:pt x="505" y="0"/>
                </a:moveTo>
                <a:lnTo>
                  <a:pt x="5020572" y="0"/>
                </a:lnTo>
                <a:lnTo>
                  <a:pt x="5020572" y="5020066"/>
                </a:lnTo>
                <a:lnTo>
                  <a:pt x="505" y="5020066"/>
                </a:lnTo>
                <a:cubicBezTo>
                  <a:pt x="505" y="3346711"/>
                  <a:pt x="0" y="1831197"/>
                  <a:pt x="505" y="0"/>
                </a:cubicBezTo>
                <a:close/>
              </a:path>
            </a:pathLst>
          </a:custGeom>
          <a:blipFill>
            <a:blip r:embed="rId3">
              <a:alphaModFix amt="67000"/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14" name="Picture 13" descr="Oneworld-final-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8000" y="381000"/>
            <a:ext cx="4572000" cy="1344706"/>
          </a:xfrm>
          <a:prstGeom prst="rect">
            <a:avLst/>
          </a:prstGeom>
        </p:spPr>
      </p:pic>
      <p:pic>
        <p:nvPicPr>
          <p:cNvPr id="15" name="Picture 14" descr="ONEWORLD-UPSEN-logo.png"/>
          <p:cNvPicPr>
            <a:picLocks noChangeAspect="1"/>
          </p:cNvPicPr>
          <p:nvPr/>
        </p:nvPicPr>
        <p:blipFill>
          <a:blip r:embed="rId9"/>
          <a:srcRect r="69474"/>
          <a:stretch>
            <a:fillRect/>
          </a:stretch>
        </p:blipFill>
        <p:spPr>
          <a:xfrm>
            <a:off x="7631134" y="571905"/>
            <a:ext cx="2997200" cy="3029869"/>
          </a:xfrm>
          <a:prstGeom prst="rect">
            <a:avLst/>
          </a:prstGeom>
        </p:spPr>
      </p:pic>
      <p:sp>
        <p:nvSpPr>
          <p:cNvPr id="16" name="TextBox 13"/>
          <p:cNvSpPr txBox="1"/>
          <p:nvPr/>
        </p:nvSpPr>
        <p:spPr>
          <a:xfrm>
            <a:off x="2329017" y="4705213"/>
            <a:ext cx="3606800" cy="2875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89"/>
              </a:lnSpc>
              <a:spcBef>
                <a:spcPct val="0"/>
              </a:spcBef>
            </a:pPr>
            <a:r>
              <a:rPr lang="en-US" sz="1942" dirty="0">
                <a:solidFill>
                  <a:srgbClr val="FFFAEB"/>
                </a:solidFill>
                <a:latin typeface="DM Sans Italics"/>
              </a:rPr>
              <a:t>PRESENTED BY</a:t>
            </a:r>
          </a:p>
        </p:txBody>
      </p:sp>
      <p:sp>
        <p:nvSpPr>
          <p:cNvPr id="17" name="TextBox 5"/>
          <p:cNvSpPr txBox="1"/>
          <p:nvPr/>
        </p:nvSpPr>
        <p:spPr>
          <a:xfrm>
            <a:off x="703417" y="5210237"/>
            <a:ext cx="8026400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000" dirty="0">
                <a:solidFill>
                  <a:srgbClr val="B100E8"/>
                </a:solidFill>
                <a:latin typeface="Arial" pitchFamily="34" charset="0"/>
                <a:cs typeface="Arial" pitchFamily="34" charset="0"/>
              </a:rPr>
              <a:t>THE CELLULAR EMERGENCY ALERT SERVICES ASSOCIATION</a:t>
            </a:r>
          </a:p>
        </p:txBody>
      </p:sp>
      <p:sp>
        <p:nvSpPr>
          <p:cNvPr id="18" name="TextBox 5"/>
          <p:cNvSpPr txBox="1"/>
          <p:nvPr/>
        </p:nvSpPr>
        <p:spPr>
          <a:xfrm>
            <a:off x="1211417" y="5619614"/>
            <a:ext cx="6400800" cy="5333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733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of Civil Information Societies EMERGENCY COMMUNICATIONS WORKING GROUP and </a:t>
            </a:r>
            <a:r>
              <a:rPr lang="en-US" sz="1733" dirty="0">
                <a:solidFill>
                  <a:srgbClr val="942DA9"/>
                </a:solidFill>
                <a:latin typeface="Arial" pitchFamily="34" charset="0"/>
                <a:cs typeface="Arial" pitchFamily="34" charset="0"/>
                <a:hlinkClick r:id="rId10"/>
              </a:rPr>
              <a:t>ONEWORLD</a:t>
            </a:r>
            <a:r>
              <a:rPr lang="en-US" sz="1733" dirty="0">
                <a:solidFill>
                  <a:srgbClr val="942DA9"/>
                </a:solidFill>
                <a:latin typeface="Arial" pitchFamily="34" charset="0"/>
                <a:cs typeface="Arial" pitchFamily="34" charset="0"/>
              </a:rPr>
              <a:t> UPSEN ALLIANCE</a:t>
            </a:r>
          </a:p>
        </p:txBody>
      </p:sp>
      <p:sp>
        <p:nvSpPr>
          <p:cNvPr id="19" name="TextBox 8"/>
          <p:cNvSpPr txBox="1"/>
          <p:nvPr/>
        </p:nvSpPr>
        <p:spPr>
          <a:xfrm>
            <a:off x="1081641" y="1984785"/>
            <a:ext cx="731755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dirty="0">
                <a:solidFill>
                  <a:srgbClr val="048AFF"/>
                </a:solidFill>
                <a:latin typeface="Arial Black" pitchFamily="34" charset="0"/>
              </a:rPr>
              <a:t>PERSONAL ALERTING </a:t>
            </a:r>
          </a:p>
        </p:txBody>
      </p:sp>
      <p:sp>
        <p:nvSpPr>
          <p:cNvPr id="20" name="TextBox 5"/>
          <p:cNvSpPr txBox="1"/>
          <p:nvPr/>
        </p:nvSpPr>
        <p:spPr>
          <a:xfrm>
            <a:off x="1447409" y="4207574"/>
            <a:ext cx="5698125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000" dirty="0">
                <a:solidFill>
                  <a:srgbClr val="B100E8"/>
                </a:solidFill>
                <a:latin typeface="Arial Black" pitchFamily="34" charset="0"/>
              </a:rPr>
              <a:t>PROJECT FOR THE CARIBBEAN REGION</a:t>
            </a:r>
          </a:p>
        </p:txBody>
      </p:sp>
      <p:pic>
        <p:nvPicPr>
          <p:cNvPr id="21" name="Picture 20" descr="Oneworld-final-logo.pn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10261600" y="5969000"/>
            <a:ext cx="1778000" cy="522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766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 rot="2223819">
            <a:off x="-5279116" y="2350834"/>
            <a:ext cx="6443408" cy="5847393"/>
          </a:xfrm>
          <a:custGeom>
            <a:avLst/>
            <a:gdLst/>
            <a:ahLst/>
            <a:cxnLst/>
            <a:rect l="l" t="t" r="r" b="b"/>
            <a:pathLst>
              <a:path w="9665112" h="8771089">
                <a:moveTo>
                  <a:pt x="0" y="0"/>
                </a:moveTo>
                <a:lnTo>
                  <a:pt x="9665112" y="0"/>
                </a:lnTo>
                <a:lnTo>
                  <a:pt x="9665112" y="8771089"/>
                </a:lnTo>
                <a:lnTo>
                  <a:pt x="0" y="87710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0973247" y="-1363846"/>
            <a:ext cx="2437505" cy="2437505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48AFF">
                    <a:alpha val="100000"/>
                  </a:srgbClr>
                </a:gs>
                <a:gs pos="100000">
                  <a:srgbClr val="B100E8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87"/>
                </a:lnSpc>
              </a:pPr>
              <a:endParaRPr sz="1200"/>
            </a:p>
          </p:txBody>
        </p:sp>
      </p:grpSp>
      <p:sp>
        <p:nvSpPr>
          <p:cNvPr id="14" name="TextBox 8"/>
          <p:cNvSpPr txBox="1"/>
          <p:nvPr/>
        </p:nvSpPr>
        <p:spPr>
          <a:xfrm>
            <a:off x="942130" y="261127"/>
            <a:ext cx="9350829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b="1" dirty="0">
                <a:solidFill>
                  <a:srgbClr val="048AFF"/>
                </a:solidFill>
                <a:latin typeface="Arial" pitchFamily="34" charset="0"/>
                <a:cs typeface="Arial" pitchFamily="34" charset="0"/>
              </a:rPr>
              <a:t>Global Bodies have been calling for a Global Messaging platform for ten years</a:t>
            </a:r>
            <a:endParaRPr lang="en-US" sz="2400" b="1" dirty="0">
              <a:solidFill>
                <a:srgbClr val="048A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33562" y="1375081"/>
            <a:ext cx="11077569" cy="56605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97209" lvl="1" indent="-198605">
              <a:lnSpc>
                <a:spcPct val="200000"/>
              </a:lnSpc>
              <a:buFont typeface="Arial"/>
              <a:buChar char="•"/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2015 - More than 200 Nations joined Sendai Framework (link to document) </a:t>
            </a:r>
          </a:p>
          <a:p>
            <a:pPr marL="397209" lvl="1" indent="-198605">
              <a:lnSpc>
                <a:spcPct val="200000"/>
              </a:lnSpc>
              <a:buFont typeface="Arial"/>
              <a:buChar char="•"/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2022 – UN calls on world to develop and implement a Global Messaging solution by 2025 (link to </a:t>
            </a:r>
            <a:r>
              <a:rPr lang="en-US" sz="1839" dirty="0" err="1">
                <a:solidFill>
                  <a:srgbClr val="FFFAEB"/>
                </a:solidFill>
                <a:latin typeface="DM Sans Italics"/>
              </a:rPr>
              <a:t>Guterres</a:t>
            </a:r>
            <a:r>
              <a:rPr lang="en-US" sz="1839" dirty="0">
                <a:solidFill>
                  <a:srgbClr val="FFFAEB"/>
                </a:solidFill>
                <a:latin typeface="DM Sans Italics"/>
              </a:rPr>
              <a:t> Video) </a:t>
            </a:r>
          </a:p>
          <a:p>
            <a:pPr marL="397209" lvl="1" indent="-198605">
              <a:lnSpc>
                <a:spcPct val="200000"/>
              </a:lnSpc>
              <a:buFont typeface="Arial"/>
              <a:buChar char="•"/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2023 – WMO calls  on Gen 1 developer to implement a Global messaging solution – UPSEN is developed. </a:t>
            </a:r>
          </a:p>
          <a:p>
            <a:pPr marL="397209" lvl="1" indent="-198605">
              <a:lnSpc>
                <a:spcPct val="200000"/>
              </a:lnSpc>
              <a:buFont typeface="Arial"/>
              <a:buChar char="•"/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2024 - Universal Public Service Emergency Notification (UPSEN) system ready for global deployments. </a:t>
            </a:r>
          </a:p>
          <a:p>
            <a:pPr marL="397209" lvl="1" indent="-198605">
              <a:lnSpc>
                <a:spcPct val="200000"/>
              </a:lnSpc>
              <a:buFont typeface="Arial"/>
              <a:buChar char="•"/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Global Alerts Corp. begins to approach National Governments and their respective telecommunication regulators with the next generation (GEN 2) of CB based Regional and Global </a:t>
            </a:r>
          </a:p>
          <a:p>
            <a:pPr marL="397209" lvl="1" indent="-198605">
              <a:lnSpc>
                <a:spcPct val="200000"/>
              </a:lnSpc>
              <a:buFont typeface="Arial"/>
              <a:buChar char="•"/>
            </a:pPr>
            <a:endParaRPr lang="en-US" sz="1839" dirty="0">
              <a:solidFill>
                <a:srgbClr val="FFFAEB"/>
              </a:solidFill>
              <a:latin typeface="DM Sans Itali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33563" y="1251264"/>
            <a:ext cx="11077568" cy="536760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01894" y="320767"/>
            <a:ext cx="6621420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52"/>
              </a:lnSpc>
            </a:pPr>
            <a:r>
              <a:rPr lang="en-US" sz="3667" dirty="0">
                <a:solidFill>
                  <a:srgbClr val="048AFF"/>
                </a:solidFill>
                <a:latin typeface="Arial Black" pitchFamily="34" charset="0"/>
              </a:rPr>
              <a:t>Public Warning Feasibility</a:t>
            </a:r>
            <a:endParaRPr lang="en-US" sz="3667" dirty="0">
              <a:solidFill>
                <a:srgbClr val="048AFF"/>
              </a:solidFill>
              <a:latin typeface="Arial Black" pitchFamily="34" charset="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01897" y="1028053"/>
            <a:ext cx="6621417" cy="750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33" dirty="0">
                <a:solidFill>
                  <a:srgbClr val="FFFFFF"/>
                </a:solidFill>
                <a:latin typeface="DM Sans"/>
              </a:rPr>
              <a:t>In 2002, president of the Cellular Telecommunication Industry Association, (CTIA), Tom Wheeler defined the </a:t>
            </a:r>
            <a:r>
              <a:rPr lang="en-US" sz="1733" dirty="0" smtClean="0">
                <a:solidFill>
                  <a:srgbClr val="FFFFFF"/>
                </a:solidFill>
                <a:latin typeface="DM Sans"/>
              </a:rPr>
              <a:t>challenges</a:t>
            </a:r>
            <a:endParaRPr lang="en-US" sz="1733" dirty="0">
              <a:solidFill>
                <a:srgbClr val="FFFFFF"/>
              </a:solidFill>
              <a:latin typeface="DM Sans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0160000" y="-685800"/>
            <a:ext cx="2868420" cy="2724183"/>
          </a:xfrm>
          <a:custGeom>
            <a:avLst/>
            <a:gdLst/>
            <a:ahLst/>
            <a:cxnLst/>
            <a:rect l="l" t="t" r="r" b="b"/>
            <a:pathLst>
              <a:path w="9641780" h="9629727">
                <a:moveTo>
                  <a:pt x="0" y="0"/>
                </a:moveTo>
                <a:lnTo>
                  <a:pt x="9641780" y="0"/>
                </a:lnTo>
                <a:lnTo>
                  <a:pt x="9641780" y="9629728"/>
                </a:lnTo>
                <a:lnTo>
                  <a:pt x="0" y="9629728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print"/>
            <a:stretch>
              <a:fillRect/>
            </a:stretch>
          </a:blipFill>
        </p:spPr>
      </p:sp>
      <p:sp>
        <p:nvSpPr>
          <p:cNvPr id="4" name="Rectangle 3"/>
          <p:cNvSpPr/>
          <p:nvPr/>
        </p:nvSpPr>
        <p:spPr>
          <a:xfrm>
            <a:off x="301894" y="1162594"/>
            <a:ext cx="142243" cy="1567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9"/>
          <p:cNvSpPr txBox="1"/>
          <p:nvPr/>
        </p:nvSpPr>
        <p:spPr>
          <a:xfrm>
            <a:off x="301897" y="2038383"/>
            <a:ext cx="6621417" cy="11507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33" dirty="0" smtClean="0">
                <a:solidFill>
                  <a:srgbClr val="FFFFFF"/>
                </a:solidFill>
                <a:latin typeface="DM Sans"/>
              </a:rPr>
              <a:t>Providing </a:t>
            </a:r>
            <a:r>
              <a:rPr lang="en-US" sz="1733" dirty="0">
                <a:solidFill>
                  <a:srgbClr val="FFFFFF"/>
                </a:solidFill>
                <a:latin typeface="DM Sans"/>
              </a:rPr>
              <a:t>Cellular Alerting is not technically impossible, it is not economically impossible, but unless the solution is revenue based, it will be politically </a:t>
            </a:r>
            <a:r>
              <a:rPr lang="en-US" sz="1733" dirty="0" smtClean="0">
                <a:solidFill>
                  <a:srgbClr val="FFFFFF"/>
                </a:solidFill>
                <a:latin typeface="DM Sans"/>
              </a:rPr>
              <a:t>impossible.</a:t>
            </a:r>
            <a:endParaRPr lang="en-US" sz="1733" dirty="0">
              <a:solidFill>
                <a:srgbClr val="FFFFFF"/>
              </a:solidFill>
              <a:latin typeface="DM San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96088" y="2185852"/>
            <a:ext cx="142243" cy="1567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6" name="Picture 2" descr="Telecom PNG Transparent Images Free Download | Vector Files | Pngtre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7194" y="1162594"/>
            <a:ext cx="5979433" cy="5979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elecommunications network png images | PNGEg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5254" y="3609997"/>
            <a:ext cx="3314700" cy="3076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438918" y="5007430"/>
            <a:ext cx="3825482" cy="3256430"/>
          </a:xfrm>
          <a:custGeom>
            <a:avLst/>
            <a:gdLst/>
            <a:ahLst/>
            <a:cxnLst/>
            <a:rect l="l" t="t" r="r" b="b"/>
            <a:pathLst>
              <a:path w="4010261" h="4005248">
                <a:moveTo>
                  <a:pt x="0" y="0"/>
                </a:moveTo>
                <a:lnTo>
                  <a:pt x="4010261" y="0"/>
                </a:lnTo>
                <a:lnTo>
                  <a:pt x="4010261" y="4005248"/>
                </a:lnTo>
                <a:lnTo>
                  <a:pt x="0" y="4005248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print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570547" y="5131057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7000"/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5"/>
          <p:cNvSpPr txBox="1"/>
          <p:nvPr/>
        </p:nvSpPr>
        <p:spPr>
          <a:xfrm>
            <a:off x="303347" y="523161"/>
            <a:ext cx="6700036" cy="5890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52"/>
              </a:lnSpc>
            </a:pPr>
            <a:r>
              <a:rPr lang="en-US" sz="3200" dirty="0">
                <a:solidFill>
                  <a:srgbClr val="048AFF"/>
                </a:solidFill>
                <a:latin typeface="Arial Black" pitchFamily="34" charset="0"/>
              </a:rPr>
              <a:t>What is UPSEN </a:t>
            </a:r>
            <a:endParaRPr lang="en-US" sz="3200" dirty="0">
              <a:solidFill>
                <a:srgbClr val="048AFF"/>
              </a:solidFill>
              <a:latin typeface="Arial Black" pitchFamily="34" charset="0"/>
            </a:endParaRPr>
          </a:p>
        </p:txBody>
      </p:sp>
      <p:sp>
        <p:nvSpPr>
          <p:cNvPr id="16" name="TextBox 9"/>
          <p:cNvSpPr txBox="1"/>
          <p:nvPr/>
        </p:nvSpPr>
        <p:spPr>
          <a:xfrm>
            <a:off x="312712" y="1275230"/>
            <a:ext cx="7002487" cy="16001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33" dirty="0">
                <a:solidFill>
                  <a:srgbClr val="FFFFFF"/>
                </a:solidFill>
                <a:latin typeface="DM Sans"/>
              </a:rPr>
              <a:t>service dedicated to providing early warning for all nations as a non-revenue messaging feature available to regulatory governments by land-based and 5-g satellite telecommunications providers as a public service obligation (PSO) of radio spectrum.</a:t>
            </a:r>
            <a:endParaRPr lang="en-US" sz="1733" dirty="0">
              <a:solidFill>
                <a:srgbClr val="FFFFFF"/>
              </a:solidFill>
              <a:latin typeface="DM San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03347" y="1410545"/>
            <a:ext cx="142243" cy="1567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9"/>
          <p:cNvSpPr txBox="1"/>
          <p:nvPr/>
        </p:nvSpPr>
        <p:spPr>
          <a:xfrm>
            <a:off x="318447" y="3127349"/>
            <a:ext cx="6945953" cy="8000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33" dirty="0">
                <a:solidFill>
                  <a:srgbClr val="FFFFFF"/>
                </a:solidFill>
                <a:latin typeface="DM Sans"/>
              </a:rPr>
              <a:t>universal public service emergency notification (UPSEN) is a wireless telecommunications feature, not a government acquisition. </a:t>
            </a:r>
            <a:endParaRPr lang="en-US" sz="1733" dirty="0">
              <a:solidFill>
                <a:srgbClr val="FFFFFF"/>
              </a:solidFill>
              <a:latin typeface="DM San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12712" y="3236464"/>
            <a:ext cx="142243" cy="1567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" t="11528" r="4181" b="11053"/>
          <a:stretch/>
        </p:blipFill>
        <p:spPr>
          <a:xfrm>
            <a:off x="7325727" y="0"/>
            <a:ext cx="4970902" cy="70398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28" name="TextBox 5"/>
          <p:cNvSpPr txBox="1"/>
          <p:nvPr/>
        </p:nvSpPr>
        <p:spPr>
          <a:xfrm>
            <a:off x="4704065" y="685939"/>
            <a:ext cx="5142510" cy="6047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52"/>
              </a:lnSpc>
            </a:pPr>
            <a:r>
              <a:rPr lang="en-US" sz="3667" dirty="0">
                <a:solidFill>
                  <a:srgbClr val="048AFF"/>
                </a:solidFill>
                <a:latin typeface="Arial Black" pitchFamily="34" charset="0"/>
              </a:rPr>
              <a:t>Objective of UPSEN </a:t>
            </a:r>
            <a:endParaRPr lang="en-US" sz="3667" dirty="0">
              <a:solidFill>
                <a:srgbClr val="048AFF"/>
              </a:solidFill>
              <a:latin typeface="Arial Black" pitchFamily="34" charset="0"/>
            </a:endParaRPr>
          </a:p>
        </p:txBody>
      </p:sp>
      <p:sp>
        <p:nvSpPr>
          <p:cNvPr id="41" name="TextBox 8"/>
          <p:cNvSpPr txBox="1"/>
          <p:nvPr/>
        </p:nvSpPr>
        <p:spPr>
          <a:xfrm>
            <a:off x="4548857" y="1458132"/>
            <a:ext cx="6447819" cy="16981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97209" lvl="1" indent="-198605">
              <a:lnSpc>
                <a:spcPct val="150000"/>
              </a:lnSpc>
              <a:buFont typeface="Arial"/>
              <a:buChar char="•"/>
            </a:pPr>
            <a:r>
              <a:rPr lang="en-US" sz="1839" dirty="0" smtClean="0">
                <a:solidFill>
                  <a:srgbClr val="FFFAEB"/>
                </a:solidFill>
                <a:latin typeface="DM Sans Italics"/>
              </a:rPr>
              <a:t>Is </a:t>
            </a:r>
            <a:r>
              <a:rPr lang="en-US" sz="1839" dirty="0">
                <a:solidFill>
                  <a:srgbClr val="FFFAEB"/>
                </a:solidFill>
                <a:latin typeface="DM Sans Italics"/>
              </a:rPr>
              <a:t>to provide for the safety of all nations and people by resolving the prohibitive cost and operational complexities inherent in all current wireless emergency alerting systems…</a:t>
            </a:r>
          </a:p>
        </p:txBody>
      </p:sp>
      <p:sp>
        <p:nvSpPr>
          <p:cNvPr id="42" name="TextBox 8"/>
          <p:cNvSpPr txBox="1"/>
          <p:nvPr/>
        </p:nvSpPr>
        <p:spPr>
          <a:xfrm>
            <a:off x="5009606" y="3323701"/>
            <a:ext cx="6654728" cy="21226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97209" lvl="1" indent="-198605">
              <a:lnSpc>
                <a:spcPct val="150000"/>
              </a:lnSpc>
              <a:buFont typeface="Arial"/>
              <a:buChar char="•"/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While intended as a solution for enabling ‘Gap’, nations to obtain the added safety of national warnings, the UPSEN Personal Alert feature has a regional scope that complements existing programs by delivering seamless cross-border notifications, (i.e. child trafficking).</a:t>
            </a:r>
            <a:endParaRPr lang="en-US" sz="1839" dirty="0">
              <a:solidFill>
                <a:srgbClr val="FFFAEB"/>
              </a:solidFill>
              <a:latin typeface="DM Sans Itali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83657"/>
            <a:ext cx="4704065" cy="399601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 rot="2223819">
            <a:off x="-3916814" y="3724817"/>
            <a:ext cx="6443408" cy="5847393"/>
          </a:xfrm>
          <a:custGeom>
            <a:avLst/>
            <a:gdLst/>
            <a:ahLst/>
            <a:cxnLst/>
            <a:rect l="l" t="t" r="r" b="b"/>
            <a:pathLst>
              <a:path w="9665112" h="8771089">
                <a:moveTo>
                  <a:pt x="0" y="0"/>
                </a:moveTo>
                <a:lnTo>
                  <a:pt x="9665112" y="0"/>
                </a:lnTo>
                <a:lnTo>
                  <a:pt x="9665112" y="8771089"/>
                </a:lnTo>
                <a:lnTo>
                  <a:pt x="0" y="87710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10"/>
          <p:cNvGrpSpPr/>
          <p:nvPr/>
        </p:nvGrpSpPr>
        <p:grpSpPr>
          <a:xfrm>
            <a:off x="10678120" y="-954124"/>
            <a:ext cx="2437505" cy="2437505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48AFF">
                    <a:alpha val="100000"/>
                  </a:srgbClr>
                </a:gs>
                <a:gs pos="100000">
                  <a:srgbClr val="B100E8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87"/>
                </a:lnSpc>
              </a:pPr>
              <a:endParaRPr sz="1200"/>
            </a:p>
          </p:txBody>
        </p:sp>
      </p:grpSp>
      <p:sp>
        <p:nvSpPr>
          <p:cNvPr id="14" name="TextBox 8"/>
          <p:cNvSpPr txBox="1"/>
          <p:nvPr/>
        </p:nvSpPr>
        <p:spPr>
          <a:xfrm>
            <a:off x="826606" y="526379"/>
            <a:ext cx="2712740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800" b="1" dirty="0">
                <a:solidFill>
                  <a:srgbClr val="048AFF"/>
                </a:solidFill>
                <a:latin typeface="Arial" pitchFamily="34" charset="0"/>
                <a:cs typeface="Arial" pitchFamily="34" charset="0"/>
              </a:rPr>
              <a:t>What is UPSEN </a:t>
            </a:r>
            <a:endParaRPr lang="en-US" sz="2800" b="1" dirty="0">
              <a:solidFill>
                <a:srgbClr val="048A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TextBox 8"/>
          <p:cNvSpPr txBox="1"/>
          <p:nvPr/>
        </p:nvSpPr>
        <p:spPr>
          <a:xfrm>
            <a:off x="677345" y="1101903"/>
            <a:ext cx="10837309" cy="29717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97209" lvl="1" indent="-198605">
              <a:lnSpc>
                <a:spcPct val="150000"/>
              </a:lnSpc>
              <a:buFont typeface="Arial"/>
              <a:buChar char="•"/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service dedicated to providing early warning for all nations as a non-revenue messaging feature available to regulatory governments by land-based and 5-g satellite telecommunications providers as a public service obligation (PSO) of radio spectrum</a:t>
            </a:r>
            <a:r>
              <a:rPr lang="en-US" sz="1839" dirty="0" smtClean="0">
                <a:solidFill>
                  <a:srgbClr val="FFFAEB"/>
                </a:solidFill>
                <a:latin typeface="DM Sans Italics"/>
              </a:rPr>
              <a:t>.</a:t>
            </a:r>
            <a:br>
              <a:rPr lang="en-US" sz="1839" dirty="0" smtClean="0">
                <a:solidFill>
                  <a:srgbClr val="FFFAEB"/>
                </a:solidFill>
                <a:latin typeface="DM Sans Italics"/>
              </a:rPr>
            </a:br>
            <a:endParaRPr lang="en-US" sz="1839" dirty="0" smtClean="0">
              <a:solidFill>
                <a:srgbClr val="FFFAEB"/>
              </a:solidFill>
              <a:latin typeface="DM Sans Italics"/>
            </a:endParaRPr>
          </a:p>
          <a:p>
            <a:pPr marL="397209" lvl="1" indent="-198605">
              <a:lnSpc>
                <a:spcPct val="150000"/>
              </a:lnSpc>
              <a:buFont typeface="Arial"/>
              <a:buChar char="•"/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 </a:t>
            </a:r>
            <a:r>
              <a:rPr lang="en-US" sz="1839" dirty="0" smtClean="0">
                <a:solidFill>
                  <a:srgbClr val="FFFAEB"/>
                </a:solidFill>
                <a:latin typeface="DM Sans Italics"/>
              </a:rPr>
              <a:t>Universal </a:t>
            </a:r>
            <a:r>
              <a:rPr lang="en-US" sz="1839" dirty="0">
                <a:solidFill>
                  <a:srgbClr val="FFFAEB"/>
                </a:solidFill>
                <a:latin typeface="DM Sans Italics"/>
              </a:rPr>
              <a:t>public service emergency notification (UPSEN) is a wireless telecommunications feature, not a government acquisition. </a:t>
            </a:r>
          </a:p>
          <a:p>
            <a:pPr marL="397209" lvl="1" indent="-198605">
              <a:lnSpc>
                <a:spcPct val="150000"/>
              </a:lnSpc>
              <a:buFont typeface="Arial"/>
              <a:buChar char="•"/>
            </a:pPr>
            <a:endParaRPr lang="en-US" sz="1839" dirty="0">
              <a:solidFill>
                <a:srgbClr val="FFFAEB"/>
              </a:solidFill>
              <a:latin typeface="DM Sans Italics"/>
            </a:endParaRPr>
          </a:p>
        </p:txBody>
      </p:sp>
      <p:pic>
        <p:nvPicPr>
          <p:cNvPr id="2050" name="Picture 2" descr="Telecommunications PNG Transparent Images Free Download | Vector Files |  Pngtre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3615" y="3148049"/>
            <a:ext cx="3828385" cy="382838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14" name="TextBox 8"/>
          <p:cNvSpPr txBox="1"/>
          <p:nvPr/>
        </p:nvSpPr>
        <p:spPr>
          <a:xfrm>
            <a:off x="377371" y="483563"/>
            <a:ext cx="4256520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800" b="1" dirty="0">
                <a:solidFill>
                  <a:srgbClr val="048AFF"/>
                </a:solidFill>
                <a:latin typeface="Arial" pitchFamily="34" charset="0"/>
                <a:cs typeface="Arial" pitchFamily="34" charset="0"/>
              </a:rPr>
              <a:t>Who developed UPSEN </a:t>
            </a:r>
            <a:endParaRPr lang="en-US" sz="2800" b="1" dirty="0">
              <a:solidFill>
                <a:srgbClr val="048A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TextBox 8"/>
          <p:cNvSpPr txBox="1"/>
          <p:nvPr/>
        </p:nvSpPr>
        <p:spPr>
          <a:xfrm>
            <a:off x="261257" y="1066574"/>
            <a:ext cx="6371772" cy="59435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97209" lvl="1" indent="-198605">
              <a:lnSpc>
                <a:spcPct val="150000"/>
              </a:lnSpc>
              <a:buFont typeface="Arial"/>
              <a:buChar char="•"/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The same civil society team that designed CB more than 25 years ago and introduced the world to CB and Gen 1 solutions answered the “call to Action” by the UN in 2022. </a:t>
            </a:r>
            <a:endParaRPr lang="en-US" sz="1839" dirty="0">
              <a:solidFill>
                <a:srgbClr val="FFFAEB"/>
              </a:solidFill>
              <a:latin typeface="DM Sans Italics"/>
            </a:endParaRPr>
          </a:p>
          <a:p>
            <a:pPr marL="198604" lvl="1">
              <a:lnSpc>
                <a:spcPct val="150000"/>
              </a:lnSpc>
            </a:pPr>
            <a:endParaRPr lang="en-US" sz="1839" dirty="0">
              <a:solidFill>
                <a:srgbClr val="FFFAEB"/>
              </a:solidFill>
              <a:latin typeface="DM Sans Italics"/>
            </a:endParaRPr>
          </a:p>
          <a:p>
            <a:pPr marL="397209" lvl="1" indent="-198605">
              <a:lnSpc>
                <a:spcPct val="150000"/>
              </a:lnSpc>
              <a:buFont typeface="Arial"/>
              <a:buChar char="•"/>
            </a:pPr>
            <a:r>
              <a:rPr lang="en-US" sz="1839" dirty="0" smtClean="0">
                <a:solidFill>
                  <a:srgbClr val="FFFAEB"/>
                </a:solidFill>
                <a:latin typeface="DM Sans Italics"/>
              </a:rPr>
              <a:t>Universal </a:t>
            </a:r>
            <a:r>
              <a:rPr lang="en-US" sz="1839" dirty="0">
                <a:solidFill>
                  <a:srgbClr val="FFFAEB"/>
                </a:solidFill>
                <a:latin typeface="DM Sans Italics"/>
              </a:rPr>
              <a:t>public service emergency notification (UPSEN) must be deployed as a universal solution and required funding and commercial relationships with all stakeholders to ensure long term sustainability</a:t>
            </a:r>
            <a:r>
              <a:rPr lang="en-US" sz="1839" dirty="0" smtClean="0">
                <a:solidFill>
                  <a:srgbClr val="FFFAEB"/>
                </a:solidFill>
                <a:latin typeface="DM Sans Italics"/>
              </a:rPr>
              <a:t>.</a:t>
            </a:r>
            <a:br>
              <a:rPr lang="en-US" sz="1839" dirty="0" smtClean="0">
                <a:solidFill>
                  <a:srgbClr val="FFFAEB"/>
                </a:solidFill>
                <a:latin typeface="DM Sans Italics"/>
              </a:rPr>
            </a:br>
            <a:endParaRPr lang="en-US" sz="1839" dirty="0" smtClean="0">
              <a:solidFill>
                <a:srgbClr val="FFFAEB"/>
              </a:solidFill>
              <a:latin typeface="DM Sans Italics"/>
            </a:endParaRPr>
          </a:p>
          <a:p>
            <a:pPr marL="397209" lvl="1" indent="-198605">
              <a:lnSpc>
                <a:spcPct val="150000"/>
              </a:lnSpc>
              <a:buFont typeface="Arial"/>
              <a:buChar char="•"/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This required a commercial enterprise to acquire exclusive license to Ensure UPSEN is deployed globally for the benefit of all.   This Corporation is Global Alerts Corp. </a:t>
            </a:r>
          </a:p>
          <a:p>
            <a:pPr marL="397209" lvl="1" indent="-198605">
              <a:lnSpc>
                <a:spcPct val="150000"/>
              </a:lnSpc>
              <a:buFont typeface="Arial"/>
              <a:buChar char="•"/>
            </a:pPr>
            <a:endParaRPr lang="en-US" sz="1839" dirty="0">
              <a:solidFill>
                <a:srgbClr val="FFFAEB"/>
              </a:solidFill>
              <a:latin typeface="DM Sans Italics"/>
            </a:endParaRPr>
          </a:p>
        </p:txBody>
      </p:sp>
      <p:pic>
        <p:nvPicPr>
          <p:cNvPr id="3074" name="Picture 2" descr="What Is Virtual Networking? - Forage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087" r="25846"/>
          <a:stretch/>
        </p:blipFill>
        <p:spPr bwMode="auto">
          <a:xfrm>
            <a:off x="6633029" y="914450"/>
            <a:ext cx="5558971" cy="5410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7404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4" name="Group 10"/>
          <p:cNvGrpSpPr/>
          <p:nvPr/>
        </p:nvGrpSpPr>
        <p:grpSpPr>
          <a:xfrm>
            <a:off x="10973247" y="-1127891"/>
            <a:ext cx="2437505" cy="2437505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48AFF">
                    <a:alpha val="100000"/>
                  </a:srgbClr>
                </a:gs>
                <a:gs pos="100000">
                  <a:srgbClr val="B100E8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87"/>
                </a:lnSpc>
              </a:pPr>
              <a:endParaRPr sz="1200"/>
            </a:p>
          </p:txBody>
        </p:sp>
      </p:grpSp>
      <p:sp>
        <p:nvSpPr>
          <p:cNvPr id="14" name="TextBox 8"/>
          <p:cNvSpPr txBox="1"/>
          <p:nvPr/>
        </p:nvSpPr>
        <p:spPr>
          <a:xfrm>
            <a:off x="874280" y="501641"/>
            <a:ext cx="4320020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b="1" dirty="0">
                <a:solidFill>
                  <a:srgbClr val="048AFF"/>
                </a:solidFill>
                <a:latin typeface="Arial" pitchFamily="34" charset="0"/>
                <a:cs typeface="Arial" pitchFamily="34" charset="0"/>
              </a:rPr>
              <a:t>Who deploys UPSEN </a:t>
            </a:r>
            <a:endParaRPr lang="en-US" sz="2800" b="1" dirty="0">
              <a:solidFill>
                <a:srgbClr val="048A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TextBox 8"/>
          <p:cNvSpPr txBox="1"/>
          <p:nvPr/>
        </p:nvSpPr>
        <p:spPr>
          <a:xfrm>
            <a:off x="677344" y="3077048"/>
            <a:ext cx="5575172" cy="12736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97209" lvl="1" indent="-198605">
              <a:lnSpc>
                <a:spcPct val="150000"/>
              </a:lnSpc>
              <a:buFont typeface="Arial"/>
              <a:buChar char="•"/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The nation’s licensed wireless telecom industry in concert with GAC arranges procurement and installation of the CB and UPSEN infrastructure. </a:t>
            </a:r>
            <a:endParaRPr lang="en-US" sz="1839" dirty="0">
              <a:solidFill>
                <a:srgbClr val="FFFAEB"/>
              </a:solidFill>
              <a:latin typeface="DM Sans Itali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7344" y="1309614"/>
            <a:ext cx="6289513" cy="16457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41504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Under directive from the nation’s telecom regulatory body a public service obligation charge (PSO) is established as a sur charge on all wireless mobile devices. </a:t>
            </a:r>
            <a:endParaRPr lang="en-US" sz="1839" dirty="0">
              <a:solidFill>
                <a:srgbClr val="FFFAEB"/>
              </a:solidFill>
              <a:latin typeface="DM Sans Itali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4629" y="165248"/>
            <a:ext cx="5457371" cy="545737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80922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 rot="2223819">
            <a:off x="-3916814" y="3724817"/>
            <a:ext cx="6443408" cy="5847393"/>
          </a:xfrm>
          <a:custGeom>
            <a:avLst/>
            <a:gdLst/>
            <a:ahLst/>
            <a:cxnLst/>
            <a:rect l="l" t="t" r="r" b="b"/>
            <a:pathLst>
              <a:path w="9665112" h="8771089">
                <a:moveTo>
                  <a:pt x="0" y="0"/>
                </a:moveTo>
                <a:lnTo>
                  <a:pt x="9665112" y="0"/>
                </a:lnTo>
                <a:lnTo>
                  <a:pt x="9665112" y="8771089"/>
                </a:lnTo>
                <a:lnTo>
                  <a:pt x="0" y="87710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4" name="TextBox 8"/>
          <p:cNvSpPr txBox="1"/>
          <p:nvPr/>
        </p:nvSpPr>
        <p:spPr>
          <a:xfrm>
            <a:off x="785379" y="746088"/>
            <a:ext cx="4454277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800" b="1" dirty="0">
                <a:solidFill>
                  <a:srgbClr val="048AFF"/>
                </a:solidFill>
                <a:latin typeface="Arial" pitchFamily="34" charset="0"/>
                <a:cs typeface="Arial" pitchFamily="34" charset="0"/>
              </a:rPr>
              <a:t>How is UPSEN sustained </a:t>
            </a:r>
            <a:endParaRPr lang="en-US" sz="2800" b="1" dirty="0">
              <a:solidFill>
                <a:srgbClr val="048A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TextBox 8"/>
          <p:cNvSpPr txBox="1"/>
          <p:nvPr/>
        </p:nvSpPr>
        <p:spPr>
          <a:xfrm>
            <a:off x="561232" y="1254865"/>
            <a:ext cx="5070312" cy="25472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97209" lvl="1" indent="-198605">
              <a:lnSpc>
                <a:spcPct val="150000"/>
              </a:lnSpc>
              <a:buFont typeface="Arial"/>
              <a:buChar char="•"/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The monthly </a:t>
            </a:r>
            <a:r>
              <a:rPr lang="en-US" sz="1839" dirty="0" err="1">
                <a:solidFill>
                  <a:srgbClr val="FFFAEB"/>
                </a:solidFill>
                <a:latin typeface="DM Sans Italics"/>
              </a:rPr>
              <a:t>pso</a:t>
            </a:r>
            <a:r>
              <a:rPr lang="en-US" sz="1839" dirty="0">
                <a:solidFill>
                  <a:srgbClr val="FFFAEB"/>
                </a:solidFill>
                <a:latin typeface="DM Sans Italics"/>
              </a:rPr>
              <a:t> charges applied to all enabled mobile devices are allocated between the Wireless Networks, GAC and National Government to ensure that UPSEN remains as a self-sustaining service for the nation. </a:t>
            </a:r>
            <a:endParaRPr lang="en-US" sz="1839" dirty="0">
              <a:solidFill>
                <a:srgbClr val="FFFAEB"/>
              </a:solidFill>
              <a:latin typeface="DM Sans Italics"/>
            </a:endParaRPr>
          </a:p>
        </p:txBody>
      </p:sp>
      <p:pic>
        <p:nvPicPr>
          <p:cNvPr id="4098" name="Picture 2" descr="What is IT Networking? A Comprehensive Guide - 202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7657" y="269141"/>
            <a:ext cx="6444343" cy="574765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5646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 rot="2223819">
            <a:off x="-5029019" y="4386656"/>
            <a:ext cx="6443408" cy="5847393"/>
          </a:xfrm>
          <a:custGeom>
            <a:avLst/>
            <a:gdLst/>
            <a:ahLst/>
            <a:cxnLst/>
            <a:rect l="l" t="t" r="r" b="b"/>
            <a:pathLst>
              <a:path w="9665112" h="8771089">
                <a:moveTo>
                  <a:pt x="0" y="0"/>
                </a:moveTo>
                <a:lnTo>
                  <a:pt x="9665112" y="0"/>
                </a:lnTo>
                <a:lnTo>
                  <a:pt x="9665112" y="8771089"/>
                </a:lnTo>
                <a:lnTo>
                  <a:pt x="0" y="87710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10"/>
          <p:cNvGrpSpPr/>
          <p:nvPr/>
        </p:nvGrpSpPr>
        <p:grpSpPr>
          <a:xfrm>
            <a:off x="10678120" y="-954124"/>
            <a:ext cx="2437505" cy="2437505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48AFF">
                    <a:alpha val="100000"/>
                  </a:srgbClr>
                </a:gs>
                <a:gs pos="100000">
                  <a:srgbClr val="B100E8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87"/>
                </a:lnSpc>
              </a:pPr>
              <a:endParaRPr sz="1200"/>
            </a:p>
          </p:txBody>
        </p:sp>
      </p:grpSp>
      <p:sp>
        <p:nvSpPr>
          <p:cNvPr id="14" name="TextBox 8"/>
          <p:cNvSpPr txBox="1"/>
          <p:nvPr/>
        </p:nvSpPr>
        <p:spPr>
          <a:xfrm>
            <a:off x="613844" y="746088"/>
            <a:ext cx="5296106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800" b="1" dirty="0">
                <a:solidFill>
                  <a:srgbClr val="048AFF"/>
                </a:solidFill>
                <a:latin typeface="Arial" pitchFamily="34" charset="0"/>
                <a:cs typeface="Arial" pitchFamily="34" charset="0"/>
              </a:rPr>
              <a:t>HOW IS UPSEN DEPLOYED ? </a:t>
            </a:r>
            <a:endParaRPr lang="en-US" sz="2800" b="1" dirty="0">
              <a:solidFill>
                <a:srgbClr val="048A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TextBox 8"/>
          <p:cNvSpPr txBox="1"/>
          <p:nvPr/>
        </p:nvSpPr>
        <p:spPr>
          <a:xfrm>
            <a:off x="613845" y="1254865"/>
            <a:ext cx="6345755" cy="3720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98604" lvl="1">
              <a:lnSpc>
                <a:spcPct val="150000"/>
              </a:lnSpc>
            </a:pPr>
            <a:r>
              <a:rPr lang="en-US" sz="1839" b="1" dirty="0">
                <a:solidFill>
                  <a:srgbClr val="FFFAEB"/>
                </a:solidFill>
                <a:latin typeface="DM Sans Italics"/>
              </a:rPr>
              <a:t>Nations with no CB based Messaging Services:</a:t>
            </a:r>
          </a:p>
        </p:txBody>
      </p:sp>
      <p:sp>
        <p:nvSpPr>
          <p:cNvPr id="13" name="TextBox 8"/>
          <p:cNvSpPr txBox="1"/>
          <p:nvPr/>
        </p:nvSpPr>
        <p:spPr>
          <a:xfrm>
            <a:off x="613844" y="1923063"/>
            <a:ext cx="10148014" cy="46174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41504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GAC engineering resources are engaged upon completion of a Memorandum of Understanding between Nation and GAC. </a:t>
            </a:r>
          </a:p>
          <a:p>
            <a:pPr marL="541504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National Communications Regulator issued directive  to wireless industry to implement a CB based National Alerting Capability</a:t>
            </a:r>
          </a:p>
          <a:p>
            <a:pPr marL="541504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All licensed telecommunication network operators and GAC engineering resources engage in design and selection of one or more CB based system vendors.  </a:t>
            </a:r>
          </a:p>
          <a:p>
            <a:pPr marL="541504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GAC works with CB vendors to procure selected hardware and software to connect to all National providers. </a:t>
            </a:r>
          </a:p>
          <a:p>
            <a:pPr marL="541504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System requirements, testing schedules and implementation plans are established with World bodies, Government Agencies, licensed wireless providers and public facing communications broadcasters. </a:t>
            </a:r>
          </a:p>
        </p:txBody>
      </p:sp>
    </p:spTree>
    <p:extLst>
      <p:ext uri="{BB962C8B-B14F-4D97-AF65-F5344CB8AC3E}">
        <p14:creationId xmlns:p14="http://schemas.microsoft.com/office/powerpoint/2010/main" val="2351700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 rot="2223819">
            <a:off x="-4550048" y="4266963"/>
            <a:ext cx="6443408" cy="5847393"/>
          </a:xfrm>
          <a:custGeom>
            <a:avLst/>
            <a:gdLst/>
            <a:ahLst/>
            <a:cxnLst/>
            <a:rect l="l" t="t" r="r" b="b"/>
            <a:pathLst>
              <a:path w="9665112" h="8771089">
                <a:moveTo>
                  <a:pt x="0" y="0"/>
                </a:moveTo>
                <a:lnTo>
                  <a:pt x="9665112" y="0"/>
                </a:lnTo>
                <a:lnTo>
                  <a:pt x="9665112" y="8771089"/>
                </a:lnTo>
                <a:lnTo>
                  <a:pt x="0" y="87710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10"/>
          <p:cNvGrpSpPr/>
          <p:nvPr/>
        </p:nvGrpSpPr>
        <p:grpSpPr>
          <a:xfrm>
            <a:off x="10678120" y="-954124"/>
            <a:ext cx="2437505" cy="2437505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48AFF">
                    <a:alpha val="100000"/>
                  </a:srgbClr>
                </a:gs>
                <a:gs pos="100000">
                  <a:srgbClr val="B100E8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87"/>
                </a:lnSpc>
              </a:pPr>
              <a:endParaRPr sz="1200"/>
            </a:p>
          </p:txBody>
        </p:sp>
      </p:grpSp>
      <p:sp>
        <p:nvSpPr>
          <p:cNvPr id="14" name="TextBox 8"/>
          <p:cNvSpPr txBox="1"/>
          <p:nvPr/>
        </p:nvSpPr>
        <p:spPr>
          <a:xfrm>
            <a:off x="613844" y="746088"/>
            <a:ext cx="3101813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800" b="1" dirty="0">
                <a:solidFill>
                  <a:srgbClr val="048AFF"/>
                </a:solidFill>
                <a:latin typeface="Arial" pitchFamily="34" charset="0"/>
                <a:cs typeface="Arial" pitchFamily="34" charset="0"/>
              </a:rPr>
              <a:t>UPSEN Proposal</a:t>
            </a:r>
            <a:endParaRPr lang="en-US" sz="2800" b="1" dirty="0">
              <a:solidFill>
                <a:srgbClr val="048A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TextBox 8"/>
          <p:cNvSpPr txBox="1"/>
          <p:nvPr/>
        </p:nvSpPr>
        <p:spPr>
          <a:xfrm>
            <a:off x="613845" y="1254865"/>
            <a:ext cx="6345755" cy="3720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98604" lvl="1">
              <a:lnSpc>
                <a:spcPct val="150000"/>
              </a:lnSpc>
            </a:pPr>
            <a:r>
              <a:rPr lang="en-US" sz="1839" b="1" dirty="0">
                <a:solidFill>
                  <a:srgbClr val="FFFAEB"/>
                </a:solidFill>
                <a:latin typeface="DM Sans Italics"/>
              </a:rPr>
              <a:t>Existing CB Based GEN 1 Installations:</a:t>
            </a:r>
            <a:endParaRPr lang="en-US" sz="1839" b="1" dirty="0">
              <a:solidFill>
                <a:srgbClr val="FFFAEB"/>
              </a:solidFill>
              <a:latin typeface="DM Sans Italics"/>
            </a:endParaRPr>
          </a:p>
        </p:txBody>
      </p:sp>
      <p:sp>
        <p:nvSpPr>
          <p:cNvPr id="13" name="TextBox 8"/>
          <p:cNvSpPr txBox="1"/>
          <p:nvPr/>
        </p:nvSpPr>
        <p:spPr>
          <a:xfrm>
            <a:off x="613845" y="1923062"/>
            <a:ext cx="4930094" cy="12736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98604" lvl="1">
              <a:lnSpc>
                <a:spcPct val="150000"/>
              </a:lnSpc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UPSEN proposes that ‘Warning for All’ should not be an exclusive responsibility of government.</a:t>
            </a:r>
          </a:p>
        </p:txBody>
      </p:sp>
      <p:sp>
        <p:nvSpPr>
          <p:cNvPr id="16" name="TextBox 8"/>
          <p:cNvSpPr txBox="1"/>
          <p:nvPr/>
        </p:nvSpPr>
        <p:spPr>
          <a:xfrm>
            <a:off x="613844" y="3429000"/>
            <a:ext cx="4644785" cy="12736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98604" lvl="1">
              <a:lnSpc>
                <a:spcPct val="150000"/>
              </a:lnSpc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Providing wireless users access to emergency information should be a moral obligation of personal telecommunication,</a:t>
            </a:r>
          </a:p>
        </p:txBody>
      </p:sp>
      <p:pic>
        <p:nvPicPr>
          <p:cNvPr id="5122" name="Picture 2" descr="Learn Computer Networking for Beginners with Certificate - Anytime,  Anywhere | EasyShiksh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9047" y="702180"/>
            <a:ext cx="5712769" cy="5712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4256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 rot="2223819">
            <a:off x="-4550048" y="4266963"/>
            <a:ext cx="6443408" cy="5847393"/>
          </a:xfrm>
          <a:custGeom>
            <a:avLst/>
            <a:gdLst/>
            <a:ahLst/>
            <a:cxnLst/>
            <a:rect l="l" t="t" r="r" b="b"/>
            <a:pathLst>
              <a:path w="9665112" h="8771089">
                <a:moveTo>
                  <a:pt x="0" y="0"/>
                </a:moveTo>
                <a:lnTo>
                  <a:pt x="9665112" y="0"/>
                </a:lnTo>
                <a:lnTo>
                  <a:pt x="9665112" y="8771089"/>
                </a:lnTo>
                <a:lnTo>
                  <a:pt x="0" y="87710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4" name="TextBox 8"/>
          <p:cNvSpPr txBox="1"/>
          <p:nvPr/>
        </p:nvSpPr>
        <p:spPr>
          <a:xfrm>
            <a:off x="670637" y="741570"/>
            <a:ext cx="4364556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800" b="1" dirty="0">
                <a:solidFill>
                  <a:srgbClr val="048AFF"/>
                </a:solidFill>
                <a:latin typeface="Arial" pitchFamily="34" charset="0"/>
                <a:cs typeface="Arial" pitchFamily="34" charset="0"/>
              </a:rPr>
              <a:t>Role of Wireless Industry </a:t>
            </a:r>
            <a:endParaRPr lang="en-US" sz="2800" b="1" dirty="0">
              <a:solidFill>
                <a:srgbClr val="048A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TextBox 8"/>
          <p:cNvSpPr txBox="1"/>
          <p:nvPr/>
        </p:nvSpPr>
        <p:spPr>
          <a:xfrm>
            <a:off x="613845" y="1254865"/>
            <a:ext cx="4884799" cy="16981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98604" lvl="1">
              <a:lnSpc>
                <a:spcPct val="150000"/>
              </a:lnSpc>
            </a:pPr>
            <a:r>
              <a:rPr lang="en-US" sz="1839" b="1" dirty="0">
                <a:solidFill>
                  <a:srgbClr val="FFFAEB"/>
                </a:solidFill>
                <a:latin typeface="DM Sans Italics"/>
              </a:rPr>
              <a:t>Given that the need, feasibility, and humanitarian benefit of wireless emergency alerting has been well established.</a:t>
            </a:r>
          </a:p>
        </p:txBody>
      </p:sp>
      <p:sp>
        <p:nvSpPr>
          <p:cNvPr id="16" name="TextBox 8"/>
          <p:cNvSpPr txBox="1"/>
          <p:nvPr/>
        </p:nvSpPr>
        <p:spPr>
          <a:xfrm>
            <a:off x="642240" y="3358808"/>
            <a:ext cx="4828007" cy="16981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98604" lvl="1">
              <a:lnSpc>
                <a:spcPct val="150000"/>
              </a:lnSpc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Personal telecom providers have the authority and moral obligation to provide users Universal Public Service Emergency Notifications</a:t>
            </a:r>
          </a:p>
        </p:txBody>
      </p:sp>
      <p:pic>
        <p:nvPicPr>
          <p:cNvPr id="6146" name="Picture 2" descr="Networking Research Group - Microsoft Research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0247" y="473815"/>
            <a:ext cx="9765645" cy="5496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0676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 rot="2223819">
            <a:off x="-4550048" y="4266963"/>
            <a:ext cx="6443408" cy="5847393"/>
          </a:xfrm>
          <a:custGeom>
            <a:avLst/>
            <a:gdLst/>
            <a:ahLst/>
            <a:cxnLst/>
            <a:rect l="l" t="t" r="r" b="b"/>
            <a:pathLst>
              <a:path w="9665112" h="8771089">
                <a:moveTo>
                  <a:pt x="0" y="0"/>
                </a:moveTo>
                <a:lnTo>
                  <a:pt x="9665112" y="0"/>
                </a:lnTo>
                <a:lnTo>
                  <a:pt x="9665112" y="8771089"/>
                </a:lnTo>
                <a:lnTo>
                  <a:pt x="0" y="87710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4" name="TextBox 8"/>
          <p:cNvSpPr txBox="1"/>
          <p:nvPr/>
        </p:nvSpPr>
        <p:spPr>
          <a:xfrm>
            <a:off x="6019514" y="680734"/>
            <a:ext cx="5817249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800" b="1" dirty="0">
                <a:solidFill>
                  <a:srgbClr val="048AFF"/>
                </a:solidFill>
                <a:latin typeface="Arial" pitchFamily="34" charset="0"/>
                <a:cs typeface="Arial" pitchFamily="34" charset="0"/>
              </a:rPr>
              <a:t>WHO IS GLOBAL ALERTS CORP. </a:t>
            </a:r>
            <a:endParaRPr lang="en-US" sz="2800" b="1" dirty="0">
              <a:solidFill>
                <a:srgbClr val="048A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TextBox 8"/>
          <p:cNvSpPr txBox="1"/>
          <p:nvPr/>
        </p:nvSpPr>
        <p:spPr>
          <a:xfrm>
            <a:off x="6019514" y="1328817"/>
            <a:ext cx="5843521" cy="21226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98604" lvl="1">
              <a:lnSpc>
                <a:spcPct val="150000"/>
              </a:lnSpc>
            </a:pPr>
            <a:endParaRPr lang="en-US" sz="1839" dirty="0">
              <a:solidFill>
                <a:srgbClr val="FFFAEB"/>
              </a:solidFill>
              <a:latin typeface="DM Sans Italics"/>
            </a:endParaRPr>
          </a:p>
          <a:p>
            <a:pPr marL="541504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Global leaders in CB technology</a:t>
            </a:r>
          </a:p>
          <a:p>
            <a:pPr marL="541504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Designer and </a:t>
            </a:r>
            <a:r>
              <a:rPr lang="en-US" sz="1839" dirty="0" err="1">
                <a:solidFill>
                  <a:srgbClr val="FFFAEB"/>
                </a:solidFill>
                <a:latin typeface="DM Sans Italics"/>
              </a:rPr>
              <a:t>implementor</a:t>
            </a:r>
            <a:r>
              <a:rPr lang="en-US" sz="1839" dirty="0">
                <a:solidFill>
                  <a:srgbClr val="FFFAEB"/>
                </a:solidFill>
                <a:latin typeface="DM Sans Italics"/>
              </a:rPr>
              <a:t> of the UPSEN service in concert with Wireless Mobile Networks</a:t>
            </a:r>
          </a:p>
          <a:p>
            <a:pPr marL="541504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39" dirty="0">
                <a:solidFill>
                  <a:srgbClr val="FFFAEB"/>
                </a:solidFill>
                <a:latin typeface="DM Sans Italics"/>
              </a:rPr>
              <a:t>See ; https;//globalalertscorp.com/people </a:t>
            </a:r>
          </a:p>
        </p:txBody>
      </p:sp>
      <p:pic>
        <p:nvPicPr>
          <p:cNvPr id="7170" name="Picture 2" descr="Class 9 - Networking - Cyber Square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69" t="-5824" r="29241" b="996"/>
          <a:stretch/>
        </p:blipFill>
        <p:spPr bwMode="auto">
          <a:xfrm>
            <a:off x="127396" y="303451"/>
            <a:ext cx="5563153" cy="5905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7198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 rot="-6001244">
            <a:off x="7278471" y="4699809"/>
            <a:ext cx="9522575" cy="8641737"/>
          </a:xfrm>
          <a:custGeom>
            <a:avLst/>
            <a:gdLst/>
            <a:ahLst/>
            <a:cxnLst/>
            <a:rect l="l" t="t" r="r" b="b"/>
            <a:pathLst>
              <a:path w="14283863" h="12962606">
                <a:moveTo>
                  <a:pt x="0" y="0"/>
                </a:moveTo>
                <a:lnTo>
                  <a:pt x="14283863" y="0"/>
                </a:lnTo>
                <a:lnTo>
                  <a:pt x="14283863" y="12962606"/>
                </a:lnTo>
                <a:lnTo>
                  <a:pt x="0" y="129626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084654">
            <a:off x="-4419282" y="-5522053"/>
            <a:ext cx="8397918" cy="7621111"/>
          </a:xfrm>
          <a:custGeom>
            <a:avLst/>
            <a:gdLst/>
            <a:ahLst/>
            <a:cxnLst/>
            <a:rect l="l" t="t" r="r" b="b"/>
            <a:pathLst>
              <a:path w="12596877" h="11431666">
                <a:moveTo>
                  <a:pt x="0" y="0"/>
                </a:moveTo>
                <a:lnTo>
                  <a:pt x="12596877" y="0"/>
                </a:lnTo>
                <a:lnTo>
                  <a:pt x="12596877" y="11431667"/>
                </a:lnTo>
                <a:lnTo>
                  <a:pt x="0" y="114316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950157" y="3337388"/>
            <a:ext cx="4291685" cy="671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1"/>
              </a:lnSpc>
            </a:pPr>
            <a:r>
              <a:rPr lang="en-US" sz="1950" dirty="0">
                <a:solidFill>
                  <a:srgbClr val="B100E8"/>
                </a:solidFill>
                <a:latin typeface="Now Bold"/>
              </a:rPr>
              <a:t>For more information or to join UPSEN, please go to</a:t>
            </a:r>
          </a:p>
        </p:txBody>
      </p:sp>
      <p:sp>
        <p:nvSpPr>
          <p:cNvPr id="6" name="Freeform 6"/>
          <p:cNvSpPr/>
          <p:nvPr/>
        </p:nvSpPr>
        <p:spPr>
          <a:xfrm>
            <a:off x="9696987" y="-462514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7000"/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116629" y="2189848"/>
            <a:ext cx="7580358" cy="903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95"/>
              </a:lnSpc>
            </a:pPr>
            <a:r>
              <a:rPr lang="en-US" sz="5392" dirty="0">
                <a:solidFill>
                  <a:srgbClr val="048AFF"/>
                </a:solidFill>
                <a:latin typeface="Now Bold"/>
              </a:rPr>
              <a:t>THANK YOU</a:t>
            </a:r>
          </a:p>
        </p:txBody>
      </p:sp>
      <p:sp>
        <p:nvSpPr>
          <p:cNvPr id="11" name="Freeform 11"/>
          <p:cNvSpPr/>
          <p:nvPr/>
        </p:nvSpPr>
        <p:spPr>
          <a:xfrm>
            <a:off x="4443371" y="4260220"/>
            <a:ext cx="402339" cy="402339"/>
          </a:xfrm>
          <a:custGeom>
            <a:avLst/>
            <a:gdLst/>
            <a:ahLst/>
            <a:cxnLst/>
            <a:rect l="l" t="t" r="r" b="b"/>
            <a:pathLst>
              <a:path w="603509" h="603509">
                <a:moveTo>
                  <a:pt x="0" y="0"/>
                </a:moveTo>
                <a:lnTo>
                  <a:pt x="603509" y="0"/>
                </a:lnTo>
                <a:lnTo>
                  <a:pt x="603509" y="603510"/>
                </a:lnTo>
                <a:lnTo>
                  <a:pt x="0" y="603510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print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4443371" y="4741846"/>
            <a:ext cx="402339" cy="402339"/>
          </a:xfrm>
          <a:custGeom>
            <a:avLst/>
            <a:gdLst/>
            <a:ahLst/>
            <a:cxnLst/>
            <a:rect l="l" t="t" r="r" b="b"/>
            <a:pathLst>
              <a:path w="603509" h="603509">
                <a:moveTo>
                  <a:pt x="0" y="0"/>
                </a:moveTo>
                <a:lnTo>
                  <a:pt x="603509" y="0"/>
                </a:lnTo>
                <a:lnTo>
                  <a:pt x="603509" y="603510"/>
                </a:lnTo>
                <a:lnTo>
                  <a:pt x="0" y="603510"/>
                </a:lnTo>
                <a:lnTo>
                  <a:pt x="0" y="0"/>
                </a:lnTo>
                <a:close/>
              </a:path>
            </a:pathLst>
          </a:custGeom>
          <a:blipFill>
            <a:blip r:embed="rId8" cstate="print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4953796" y="4328097"/>
            <a:ext cx="3480923" cy="251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87"/>
              </a:lnSpc>
              <a:spcBef>
                <a:spcPct val="0"/>
              </a:spcBef>
            </a:pPr>
            <a:r>
              <a:rPr lang="en-US" sz="1697" dirty="0">
                <a:solidFill>
                  <a:srgbClr val="FFFAEB"/>
                </a:solidFill>
                <a:latin typeface="DM Sans Italics"/>
              </a:rPr>
              <a:t>nations@upsenoneworld.org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953796" y="4810581"/>
            <a:ext cx="3480923" cy="251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87"/>
              </a:lnSpc>
              <a:spcBef>
                <a:spcPct val="0"/>
              </a:spcBef>
            </a:pPr>
            <a:r>
              <a:rPr lang="en-US" sz="1697" dirty="0">
                <a:solidFill>
                  <a:srgbClr val="FFFAEB"/>
                </a:solidFill>
                <a:latin typeface="DM Sans Italics"/>
              </a:rPr>
              <a:t>www.upsenoneworld.org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802</Words>
  <Application>Microsoft Office PowerPoint</Application>
  <PresentationFormat>Widescreen</PresentationFormat>
  <Paragraphs>57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Arial Black</vt:lpstr>
      <vt:lpstr>Calibri</vt:lpstr>
      <vt:lpstr>Calibri Light</vt:lpstr>
      <vt:lpstr>DM Sans</vt:lpstr>
      <vt:lpstr>DM Sans Italics</vt:lpstr>
      <vt:lpstr>Now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 Pacholik</dc:creator>
  <cp:lastModifiedBy>Microsoft account</cp:lastModifiedBy>
  <cp:revision>20</cp:revision>
  <dcterms:created xsi:type="dcterms:W3CDTF">2025-02-22T21:19:17Z</dcterms:created>
  <dcterms:modified xsi:type="dcterms:W3CDTF">2025-03-27T13:53:03Z</dcterms:modified>
</cp:coreProperties>
</file>